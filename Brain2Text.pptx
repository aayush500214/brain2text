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embeddedFontLst>
    <p:embeddedFont>
      <p:font typeface="Roboto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8D39A4-147D-4B04-AC8C-48A49F645DE5}">
  <a:tblStyle styleId="{4E8D39A4-147D-4B04-AC8C-48A49F645DE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Mono-bold.fntdata"/><Relationship Id="rId23" Type="http://schemas.openxmlformats.org/officeDocument/2006/relationships/font" Target="fonts/RobotoMon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ono-boldItalic.fntdata"/><Relationship Id="rId25" Type="http://schemas.openxmlformats.org/officeDocument/2006/relationships/font" Target="fonts/RobotoMon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TO SAY: Good [morning/afternoon]. Our final year project is the SDG Forecast Dashboard — an AI-powered system that forecasts India's state-level performance on key Sustainable Development Goals. Over the next few minutes, we'll walk you through the problem we tackled, the approach we took, the results we achieved, and how our interactive dashboard brings it all together.</a:t>
            </a:r>
            <a:endParaRP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35a80429f_0_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3e35a80429f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35a80429f_0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e35a80429f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TO SAY: We validated models using a temporal holdout — we trained on 2018 to 2021 and predicted 2022 and 2023. The results are clear: our linear regression model beats the naive baseline across all three SDGs. Health and education achieve R-squared values above 0.70, which is acceptable for governance forecasting. Climate shows slightly more variance — expected, since it's influenced by policy changes and environmental shocks.</a:t>
            </a:r>
            <a:endParaRPr/>
          </a:p>
        </p:txBody>
      </p:sp>
      <p:sp>
        <p:nvSpPr>
          <p:cNvPr id="163" name="Google Shape;16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35a80429f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e35a80429f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TO SAY: We validated models using a temporal holdout — we trained on 2018 to 2021 and predicted 2022 and 2023. The results are clear: our linear regression model beats the naive baseline across all three SDGs. Health and education achieve R-squared values above 0.70, which is acceptable for governance forecasting. Climate shows slightly more variance — expected, since it's influenced by policy changes and environmental shocks.</a:t>
            </a:r>
            <a:endParaRPr/>
          </a:p>
        </p:txBody>
      </p:sp>
      <p:sp>
        <p:nvSpPr>
          <p:cNvPr id="172" name="Google Shape;172;g3e35a80429f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TO SAY: To summarize — we built 108 regression models, generated forecasts for 2024 through 2026, and achieved an R-squared of 0.74 for health forecasting. Our models beat the baseline by an average of 27% on error. The key takeaway: you don't need a massive deep-learning pipeline to build governance-relevant AI tools. Simple, interpretable models — combined with good visualization — create real policy value. Future work will expand to ARIMA models, all 17 SDGs, and district-level data.</a:t>
            </a:r>
            <a:endParaRPr/>
          </a:p>
        </p:txBody>
      </p:sp>
      <p:sp>
        <p:nvSpPr>
          <p:cNvPr id="180" name="Google Shape;18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35a80429f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35a80429f_0_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3e35a80429f_0_8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TO SAY: These are our key references. Our primary data source is the NITI Aayog SDG India Index, supported by a strong body of literature on machine learning for development, linear regression for governance forecasting, and interactive dashboard design.</a:t>
            </a:r>
            <a:endParaRPr/>
          </a:p>
        </p:txBody>
      </p:sp>
      <p:sp>
        <p:nvSpPr>
          <p:cNvPr id="204" name="Google Shape;20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TO SAY: Thank you for your time and attention. We're happy to take any questions about our methodology, results, or the dashboard. We welcome feedback on how this tool could be extended or improved for real governance use.</a:t>
            </a:r>
            <a:endParaRPr/>
          </a:p>
        </p:txBody>
      </p:sp>
      <p:sp>
        <p:nvSpPr>
          <p:cNvPr id="212" name="Google Shape;21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16" name="Shape 16"/>
        <p:cNvGrpSpPr/>
        <p:nvPr/>
      </p:nvGrpSpPr>
      <p:grpSpPr>
        <a:xfrm>
          <a:off x="0" y="0"/>
          <a:ext cx="0" cy="0"/>
          <a:chOff x="0" y="0"/>
          <a:chExt cx="0" cy="0"/>
        </a:xfrm>
      </p:grpSpPr>
      <p:sp>
        <p:nvSpPr>
          <p:cNvPr id="17" name="Google Shape;17;p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sp>
        <p:nvSpPr>
          <p:cNvPr id="23" name="Google Shape;23;p4"/>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5" name="Google Shape;25;p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8" name="Shape 28"/>
        <p:cNvGrpSpPr/>
        <p:nvPr/>
      </p:nvGrpSpPr>
      <p:grpSpPr>
        <a:xfrm>
          <a:off x="0" y="0"/>
          <a:ext cx="0" cy="0"/>
          <a:chOff x="0" y="0"/>
          <a:chExt cx="0" cy="0"/>
        </a:xfrm>
      </p:grpSpPr>
      <p:sp>
        <p:nvSpPr>
          <p:cNvPr id="29" name="Google Shape;29;p5"/>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1" name="Google Shape;31;p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8" name="Google Shape;38;p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4" name="Google Shape;44;p7"/>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 name="Google Shape;45;p7"/>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7"/>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50" name="Shape 50"/>
        <p:cNvGrpSpPr/>
        <p:nvPr/>
      </p:nvGrpSpPr>
      <p:grpSpPr>
        <a:xfrm>
          <a:off x="0" y="0"/>
          <a:ext cx="0" cy="0"/>
          <a:chOff x="0" y="0"/>
          <a:chExt cx="0" cy="0"/>
        </a:xfrm>
      </p:grpSpPr>
      <p:sp>
        <p:nvSpPr>
          <p:cNvPr id="51" name="Google Shape;51;p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5" name="Shape 55"/>
        <p:cNvGrpSpPr/>
        <p:nvPr/>
      </p:nvGrpSpPr>
      <p:grpSpPr>
        <a:xfrm>
          <a:off x="0" y="0"/>
          <a:ext cx="0" cy="0"/>
          <a:chOff x="0" y="0"/>
          <a:chExt cx="0" cy="0"/>
        </a:xfrm>
      </p:grpSpPr>
      <p:sp>
        <p:nvSpPr>
          <p:cNvPr id="56" name="Google Shape;56;p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59" name="Shape 59"/>
        <p:cNvGrpSpPr/>
        <p:nvPr/>
      </p:nvGrpSpPr>
      <p:grpSpPr>
        <a:xfrm>
          <a:off x="0" y="0"/>
          <a:ext cx="0" cy="0"/>
          <a:chOff x="0" y="0"/>
          <a:chExt cx="0" cy="0"/>
        </a:xfrm>
      </p:grpSpPr>
      <p:sp>
        <p:nvSpPr>
          <p:cNvPr id="60" name="Google Shape;60;p10"/>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0"/>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2" name="Google Shape;62;p10"/>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3" name="Google Shape;63;p1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6" name="Shape 66"/>
        <p:cNvGrpSpPr/>
        <p:nvPr/>
      </p:nvGrpSpPr>
      <p:grpSpPr>
        <a:xfrm>
          <a:off x="0" y="0"/>
          <a:ext cx="0" cy="0"/>
          <a:chOff x="0" y="0"/>
          <a:chExt cx="0" cy="0"/>
        </a:xfrm>
      </p:grpSpPr>
      <p:sp>
        <p:nvSpPr>
          <p:cNvPr id="67" name="Google Shape;67;p11"/>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1"/>
          <p:cNvSpPr/>
          <p:nvPr>
            <p:ph idx="2" type="pic"/>
          </p:nvPr>
        </p:nvSpPr>
        <p:spPr>
          <a:xfrm>
            <a:off x="2389717" y="612775"/>
            <a:ext cx="7315200" cy="4114800"/>
          </a:xfrm>
          <a:prstGeom prst="rect">
            <a:avLst/>
          </a:prstGeom>
          <a:noFill/>
          <a:ln>
            <a:noFill/>
          </a:ln>
        </p:spPr>
      </p:sp>
      <p:sp>
        <p:nvSpPr>
          <p:cNvPr id="69" name="Google Shape;69;p11"/>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0" name="Google Shape;70;p1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73" name="Shape 73"/>
        <p:cNvGrpSpPr/>
        <p:nvPr/>
      </p:nvGrpSpPr>
      <p:grpSpPr>
        <a:xfrm>
          <a:off x="0" y="0"/>
          <a:ext cx="0" cy="0"/>
          <a:chOff x="0" y="0"/>
          <a:chExt cx="0" cy="0"/>
        </a:xfrm>
      </p:grpSpPr>
      <p:sp>
        <p:nvSpPr>
          <p:cNvPr id="74" name="Google Shape;74;p1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6" name="Google Shape;76;p1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79" name="Shape 79"/>
        <p:cNvGrpSpPr/>
        <p:nvPr/>
      </p:nvGrpSpPr>
      <p:grpSpPr>
        <a:xfrm>
          <a:off x="0" y="0"/>
          <a:ext cx="0" cy="0"/>
          <a:chOff x="0" y="0"/>
          <a:chExt cx="0" cy="0"/>
        </a:xfrm>
      </p:grpSpPr>
      <p:sp>
        <p:nvSpPr>
          <p:cNvPr id="80" name="Google Shape;80;p13"/>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3"/>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1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hyperlink" Target="https://www.kaggle.com?utm_source=chatgpt.com" TargetMode="External"/><Relationship Id="rId5" Type="http://schemas.openxmlformats.org/officeDocument/2006/relationships/hyperlink" Target="https://www.kaggle.com?utm_source=chatgpt.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hyperlink" Target="https://www.google.com?utm_source=chatgpt.com" TargetMode="External"/><Relationship Id="rId5" Type="http://schemas.openxmlformats.org/officeDocument/2006/relationships/hyperlink" Target="https://www.google.com?utm_source=chatgpt.com" TargetMode="External"/><Relationship Id="rId6" Type="http://schemas.openxmlformats.org/officeDocument/2006/relationships/hyperlink" Target="https://aws.amazon.com/lex/?utm_source=chatgpt.com" TargetMode="External"/><Relationship Id="rId7" Type="http://schemas.openxmlformats.org/officeDocument/2006/relationships/hyperlink" Target="https://aws.amazon.com/lex/?utm_source=chatgpt.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4"/>
          <p:cNvPicPr preferRelativeResize="0"/>
          <p:nvPr/>
        </p:nvPicPr>
        <p:blipFill rotWithShape="1">
          <a:blip r:embed="rId3">
            <a:alphaModFix/>
          </a:blip>
          <a:srcRect b="5833" l="3247" r="3247" t="5537"/>
          <a:stretch/>
        </p:blipFill>
        <p:spPr>
          <a:xfrm>
            <a:off x="1470345" y="152400"/>
            <a:ext cx="9251311" cy="1813600"/>
          </a:xfrm>
          <a:prstGeom prst="rect">
            <a:avLst/>
          </a:prstGeom>
          <a:noFill/>
          <a:ln>
            <a:noFill/>
          </a:ln>
        </p:spPr>
      </p:pic>
      <p:sp>
        <p:nvSpPr>
          <p:cNvPr id="91" name="Google Shape;91;p14"/>
          <p:cNvSpPr txBox="1"/>
          <p:nvPr/>
        </p:nvSpPr>
        <p:spPr>
          <a:xfrm>
            <a:off x="3048000" y="1966000"/>
            <a:ext cx="6096000" cy="640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Sector 29, Pradhikaran, Akurdi, Pune - Maharashtra, INDIA 411044</a:t>
            </a:r>
            <a:endParaRPr/>
          </a:p>
          <a:p>
            <a:pPr indent="0" lvl="0" marL="0" marR="0" rtl="0" algn="ctr">
              <a:spcBef>
                <a:spcPts val="0"/>
              </a:spcBef>
              <a:spcAft>
                <a:spcPts val="0"/>
              </a:spcAft>
              <a:buNone/>
            </a:pPr>
            <a:r>
              <a:rPr b="0" i="0" lang="en-US" sz="1100" u="none" cap="none" strike="noStrike">
                <a:solidFill>
                  <a:srgbClr val="000000"/>
                </a:solidFill>
                <a:latin typeface="Times New Roman"/>
                <a:ea typeface="Times New Roman"/>
                <a:cs typeface="Times New Roman"/>
                <a:sym typeface="Times New Roman"/>
              </a:rPr>
              <a:t>(Establishment by Maharashtra Act No. LXIII of 2017)</a:t>
            </a:r>
            <a:endParaRPr/>
          </a:p>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School of Computer Science, Engineering &amp; Applications</a:t>
            </a:r>
            <a:endParaRPr/>
          </a:p>
        </p:txBody>
      </p:sp>
      <p:sp>
        <p:nvSpPr>
          <p:cNvPr id="92" name="Google Shape;92;p14"/>
          <p:cNvSpPr txBox="1"/>
          <p:nvPr/>
        </p:nvSpPr>
        <p:spPr>
          <a:xfrm>
            <a:off x="76200" y="2286000"/>
            <a:ext cx="11887200" cy="203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rgbClr val="632423"/>
                </a:solidFill>
                <a:latin typeface="Times New Roman"/>
                <a:ea typeface="Times New Roman"/>
                <a:cs typeface="Times New Roman"/>
                <a:sym typeface="Times New Roman"/>
              </a:rPr>
              <a:t>BRAIN-TO-TEXT</a:t>
            </a:r>
            <a:endParaRPr/>
          </a:p>
          <a:p>
            <a:pPr indent="0" lvl="0" marL="0" marR="0" rtl="0" algn="ctr">
              <a:spcBef>
                <a:spcPts val="0"/>
              </a:spcBef>
              <a:spcAft>
                <a:spcPts val="0"/>
              </a:spcAft>
              <a:buNone/>
            </a:pPr>
            <a:r>
              <a:rPr i="1" lang="en-US" sz="2400">
                <a:solidFill>
                  <a:srgbClr val="002060"/>
                </a:solidFill>
                <a:latin typeface="Times New Roman"/>
                <a:ea typeface="Times New Roman"/>
                <a:cs typeface="Times New Roman"/>
                <a:sym typeface="Times New Roman"/>
              </a:rPr>
              <a:t>Neural Signal Decoding via GRU based Deep Learning and Web Development</a:t>
            </a:r>
            <a:br>
              <a:rPr b="0" i="1" lang="en-US" sz="2400" u="none" cap="none" strike="noStrike">
                <a:solidFill>
                  <a:srgbClr val="002060"/>
                </a:solidFill>
                <a:latin typeface="Times New Roman"/>
                <a:ea typeface="Times New Roman"/>
                <a:cs typeface="Times New Roman"/>
                <a:sym typeface="Times New Roman"/>
              </a:rPr>
            </a:br>
            <a:r>
              <a:rPr b="0" i="1" lang="en-US" sz="2400" u="none" cap="none" strike="noStrike">
                <a:solidFill>
                  <a:srgbClr val="002060"/>
                </a:solidFill>
                <a:latin typeface="Times New Roman"/>
                <a:ea typeface="Times New Roman"/>
                <a:cs typeface="Times New Roman"/>
                <a:sym typeface="Times New Roman"/>
              </a:rPr>
              <a:t>Group No : </a:t>
            </a:r>
            <a:r>
              <a:rPr i="1" lang="en-US" sz="2400">
                <a:solidFill>
                  <a:srgbClr val="002060"/>
                </a:solidFill>
                <a:latin typeface="Times New Roman"/>
                <a:ea typeface="Times New Roman"/>
                <a:cs typeface="Times New Roman"/>
                <a:sym typeface="Times New Roman"/>
              </a:rPr>
              <a:t>34</a:t>
            </a:r>
            <a:endParaRPr/>
          </a:p>
        </p:txBody>
      </p:sp>
      <p:sp>
        <p:nvSpPr>
          <p:cNvPr id="93" name="Google Shape;93;p14"/>
          <p:cNvSpPr txBox="1"/>
          <p:nvPr/>
        </p:nvSpPr>
        <p:spPr>
          <a:xfrm>
            <a:off x="0" y="5281800"/>
            <a:ext cx="4325112" cy="1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u="none" cap="none" strike="noStrike">
                <a:solidFill>
                  <a:srgbClr val="002060"/>
                </a:solidFill>
                <a:latin typeface="Times New Roman"/>
                <a:ea typeface="Times New Roman"/>
                <a:cs typeface="Times New Roman"/>
                <a:sym typeface="Times New Roman"/>
              </a:rPr>
              <a:t>Presented By:</a:t>
            </a:r>
            <a:endParaRPr/>
          </a:p>
          <a:p>
            <a:pPr indent="0" lvl="0" marL="0" marR="0" rtl="0" algn="l">
              <a:spcBef>
                <a:spcPts val="0"/>
              </a:spcBef>
              <a:spcAft>
                <a:spcPts val="0"/>
              </a:spcAft>
              <a:buNone/>
            </a:pPr>
            <a:r>
              <a:rPr b="1" lang="en-US" sz="1600">
                <a:solidFill>
                  <a:srgbClr val="002060"/>
                </a:solidFill>
                <a:latin typeface="Times New Roman"/>
                <a:ea typeface="Times New Roman"/>
                <a:cs typeface="Times New Roman"/>
                <a:sym typeface="Times New Roman"/>
              </a:rPr>
              <a:t>Sidheshwar Sharma</a:t>
            </a:r>
            <a:r>
              <a:rPr b="1" lang="en-US" sz="1600">
                <a:solidFill>
                  <a:srgbClr val="002060"/>
                </a:solidFill>
                <a:latin typeface="Times New Roman"/>
                <a:ea typeface="Times New Roman"/>
                <a:cs typeface="Times New Roman"/>
                <a:sym typeface="Times New Roman"/>
              </a:rPr>
              <a:t> — 20220802331</a:t>
            </a:r>
            <a:endParaRPr/>
          </a:p>
          <a:p>
            <a:pPr indent="0" lvl="0" marL="0" marR="0" rtl="0" algn="l">
              <a:spcBef>
                <a:spcPts val="0"/>
              </a:spcBef>
              <a:spcAft>
                <a:spcPts val="0"/>
              </a:spcAft>
              <a:buNone/>
            </a:pPr>
            <a:r>
              <a:rPr b="1" lang="en-US" sz="1600">
                <a:solidFill>
                  <a:srgbClr val="002060"/>
                </a:solidFill>
                <a:latin typeface="Times New Roman"/>
                <a:ea typeface="Times New Roman"/>
                <a:cs typeface="Times New Roman"/>
                <a:sym typeface="Times New Roman"/>
              </a:rPr>
              <a:t>Ayush Chougule</a:t>
            </a:r>
            <a:r>
              <a:rPr b="1" lang="en-US" sz="1600">
                <a:solidFill>
                  <a:srgbClr val="002060"/>
                </a:solidFill>
                <a:latin typeface="Times New Roman"/>
                <a:ea typeface="Times New Roman"/>
                <a:cs typeface="Times New Roman"/>
                <a:sym typeface="Times New Roman"/>
              </a:rPr>
              <a:t> — 20220802333</a:t>
            </a:r>
            <a:endParaRPr/>
          </a:p>
          <a:p>
            <a:pPr indent="0" lvl="0" marL="0" marR="0" rtl="0" algn="l">
              <a:spcBef>
                <a:spcPts val="0"/>
              </a:spcBef>
              <a:spcAft>
                <a:spcPts val="0"/>
              </a:spcAft>
              <a:buNone/>
            </a:pPr>
            <a:r>
              <a:rPr b="1" lang="en-US" sz="1600">
                <a:solidFill>
                  <a:srgbClr val="002060"/>
                </a:solidFill>
                <a:latin typeface="Times New Roman"/>
                <a:ea typeface="Times New Roman"/>
                <a:cs typeface="Times New Roman"/>
                <a:sym typeface="Times New Roman"/>
              </a:rPr>
              <a:t>Uday Tomar </a:t>
            </a:r>
            <a:r>
              <a:rPr b="1" lang="en-US" sz="1600">
                <a:solidFill>
                  <a:srgbClr val="002060"/>
                </a:solidFill>
                <a:latin typeface="Times New Roman"/>
                <a:ea typeface="Times New Roman"/>
                <a:cs typeface="Times New Roman"/>
                <a:sym typeface="Times New Roman"/>
              </a:rPr>
              <a:t>— 20220802412</a:t>
            </a:r>
            <a:endParaRPr/>
          </a:p>
        </p:txBody>
      </p:sp>
      <p:sp>
        <p:nvSpPr>
          <p:cNvPr id="94" name="Google Shape;94;p14"/>
          <p:cNvSpPr txBox="1"/>
          <p:nvPr/>
        </p:nvSpPr>
        <p:spPr>
          <a:xfrm>
            <a:off x="8458200" y="5281800"/>
            <a:ext cx="3733800" cy="1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rgbClr val="002060"/>
                </a:solidFill>
                <a:latin typeface="Times New Roman"/>
                <a:ea typeface="Times New Roman"/>
                <a:cs typeface="Times New Roman"/>
                <a:sym typeface="Times New Roman"/>
              </a:rPr>
              <a:t>Guided By:</a:t>
            </a:r>
            <a:endParaRPr/>
          </a:p>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Dr. Gaurav Kumar Singh</a:t>
            </a:r>
            <a:endParaRPr/>
          </a:p>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Sr. Assistant Professor, SCSEA</a:t>
            </a:r>
            <a:endParaRPr/>
          </a:p>
        </p:txBody>
      </p:sp>
      <p:sp>
        <p:nvSpPr>
          <p:cNvPr id="95" name="Google Shape;95;p14"/>
          <p:cNvSpPr txBox="1"/>
          <p:nvPr>
            <p:ph idx="4294967295" type="dt"/>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
        <p:nvSpPr>
          <p:cNvPr id="100" name="Google Shape;100;p1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632423"/>
              </a:buClr>
              <a:buSzPts val="4400"/>
              <a:buFont typeface="Times New Roman"/>
              <a:buNone/>
            </a:pPr>
            <a:r>
              <a:rPr b="1" lang="en-US">
                <a:solidFill>
                  <a:srgbClr val="632423"/>
                </a:solidFill>
                <a:latin typeface="Times New Roman"/>
                <a:ea typeface="Times New Roman"/>
                <a:cs typeface="Times New Roman"/>
                <a:sym typeface="Times New Roman"/>
              </a:rPr>
              <a:t>Contents</a:t>
            </a:r>
            <a:endParaRPr/>
          </a:p>
        </p:txBody>
      </p:sp>
      <p:sp>
        <p:nvSpPr>
          <p:cNvPr id="101" name="Google Shape;101;p15"/>
          <p:cNvSpPr txBox="1"/>
          <p:nvPr>
            <p:ph idx="1" type="body"/>
          </p:nvPr>
        </p:nvSpPr>
        <p:spPr>
          <a:xfrm>
            <a:off x="685800" y="1308818"/>
            <a:ext cx="10896600" cy="4953000"/>
          </a:xfrm>
          <a:prstGeom prst="rect">
            <a:avLst/>
          </a:prstGeom>
          <a:noFill/>
          <a:ln>
            <a:noFill/>
          </a:ln>
        </p:spPr>
        <p:txBody>
          <a:bodyPr anchorCtr="0" anchor="t" bIns="45700" lIns="91425" spcFirstLastPara="1" rIns="91425" wrap="square" tIns="45700">
            <a:normAutofit fontScale="85000" lnSpcReduction="20000"/>
          </a:bodyPr>
          <a:lstStyle/>
          <a:p>
            <a:pPr indent="-514350" lvl="0" marL="514350" rtl="0" algn="l">
              <a:lnSpc>
                <a:spcPct val="150000"/>
              </a:lnSpc>
              <a:spcBef>
                <a:spcPts val="0"/>
              </a:spcBef>
              <a:spcAft>
                <a:spcPts val="0"/>
              </a:spcAft>
              <a:buClr>
                <a:srgbClr val="002060"/>
              </a:buClr>
              <a:buSzPct val="100000"/>
              <a:buAutoNum type="arabicPeriod"/>
            </a:pPr>
            <a:r>
              <a:rPr b="1" lang="en-US">
                <a:solidFill>
                  <a:srgbClr val="002060"/>
                </a:solidFill>
                <a:latin typeface="Times New Roman"/>
                <a:ea typeface="Times New Roman"/>
                <a:cs typeface="Times New Roman"/>
                <a:sym typeface="Times New Roman"/>
              </a:rPr>
              <a:t>Introduction &amp; Motivation</a:t>
            </a:r>
            <a:endParaRPr/>
          </a:p>
          <a:p>
            <a:pPr indent="-514350" lvl="0" marL="514350" rtl="0" algn="l">
              <a:lnSpc>
                <a:spcPct val="150000"/>
              </a:lnSpc>
              <a:spcBef>
                <a:spcPts val="544"/>
              </a:spcBef>
              <a:spcAft>
                <a:spcPts val="0"/>
              </a:spcAft>
              <a:buClr>
                <a:srgbClr val="002060"/>
              </a:buClr>
              <a:buSzPct val="100000"/>
              <a:buAutoNum type="arabicPeriod"/>
            </a:pPr>
            <a:r>
              <a:rPr b="1" lang="en-US">
                <a:solidFill>
                  <a:srgbClr val="002060"/>
                </a:solidFill>
                <a:latin typeface="Times New Roman"/>
                <a:ea typeface="Times New Roman"/>
                <a:cs typeface="Times New Roman"/>
                <a:sym typeface="Times New Roman"/>
              </a:rPr>
              <a:t>Problem Statement</a:t>
            </a:r>
            <a:endParaRPr/>
          </a:p>
          <a:p>
            <a:pPr indent="-514350" lvl="0" marL="514350" rtl="0" algn="l">
              <a:lnSpc>
                <a:spcPct val="150000"/>
              </a:lnSpc>
              <a:spcBef>
                <a:spcPts val="544"/>
              </a:spcBef>
              <a:spcAft>
                <a:spcPts val="0"/>
              </a:spcAft>
              <a:buClr>
                <a:srgbClr val="002060"/>
              </a:buClr>
              <a:buSzPct val="100000"/>
              <a:buAutoNum type="arabicPeriod"/>
            </a:pPr>
            <a:r>
              <a:rPr b="1" lang="en-US">
                <a:solidFill>
                  <a:srgbClr val="002060"/>
                </a:solidFill>
                <a:latin typeface="Times New Roman"/>
                <a:ea typeface="Times New Roman"/>
                <a:cs typeface="Times New Roman"/>
                <a:sym typeface="Times New Roman"/>
              </a:rPr>
              <a:t>Literature Review &amp; Gap Analysis</a:t>
            </a:r>
            <a:endParaRPr/>
          </a:p>
          <a:p>
            <a:pPr indent="-514350" lvl="0" marL="514350" rtl="0" algn="l">
              <a:lnSpc>
                <a:spcPct val="150000"/>
              </a:lnSpc>
              <a:spcBef>
                <a:spcPts val="544"/>
              </a:spcBef>
              <a:spcAft>
                <a:spcPts val="0"/>
              </a:spcAft>
              <a:buClr>
                <a:srgbClr val="002060"/>
              </a:buClr>
              <a:buSzPct val="100000"/>
              <a:buAutoNum type="arabicPeriod"/>
            </a:pPr>
            <a:r>
              <a:rPr b="1" lang="en-US">
                <a:solidFill>
                  <a:srgbClr val="002060"/>
                </a:solidFill>
                <a:latin typeface="Times New Roman"/>
                <a:ea typeface="Times New Roman"/>
                <a:cs typeface="Times New Roman"/>
                <a:sym typeface="Times New Roman"/>
              </a:rPr>
              <a:t>Objectives</a:t>
            </a:r>
            <a:endParaRPr/>
          </a:p>
          <a:p>
            <a:pPr indent="-514350" lvl="0" marL="514350" rtl="0" algn="l">
              <a:lnSpc>
                <a:spcPct val="150000"/>
              </a:lnSpc>
              <a:spcBef>
                <a:spcPts val="544"/>
              </a:spcBef>
              <a:spcAft>
                <a:spcPts val="0"/>
              </a:spcAft>
              <a:buClr>
                <a:srgbClr val="002060"/>
              </a:buClr>
              <a:buSzPct val="100000"/>
              <a:buFont typeface="Arial"/>
              <a:buAutoNum type="arabicPeriod"/>
            </a:pPr>
            <a:r>
              <a:rPr b="1" lang="en-US">
                <a:solidFill>
                  <a:srgbClr val="002060"/>
                </a:solidFill>
                <a:latin typeface="Times New Roman"/>
                <a:ea typeface="Times New Roman"/>
                <a:cs typeface="Times New Roman"/>
                <a:sym typeface="Times New Roman"/>
              </a:rPr>
              <a:t>Proposed Methodology</a:t>
            </a:r>
            <a:endParaRPr b="1">
              <a:solidFill>
                <a:srgbClr val="002060"/>
              </a:solidFill>
              <a:latin typeface="Times New Roman"/>
              <a:ea typeface="Times New Roman"/>
              <a:cs typeface="Times New Roman"/>
              <a:sym typeface="Times New Roman"/>
            </a:endParaRPr>
          </a:p>
          <a:p>
            <a:pPr indent="-514350" lvl="0" marL="514350" rtl="0" algn="l">
              <a:lnSpc>
                <a:spcPct val="150000"/>
              </a:lnSpc>
              <a:spcBef>
                <a:spcPts val="544"/>
              </a:spcBef>
              <a:spcAft>
                <a:spcPts val="0"/>
              </a:spcAft>
              <a:buClr>
                <a:srgbClr val="002060"/>
              </a:buClr>
              <a:buSzPct val="100000"/>
              <a:buFont typeface="Arial"/>
              <a:buAutoNum type="arabicPeriod"/>
            </a:pPr>
            <a:r>
              <a:rPr b="1" lang="en-US">
                <a:solidFill>
                  <a:srgbClr val="002060"/>
                </a:solidFill>
                <a:latin typeface="Times New Roman"/>
                <a:ea typeface="Times New Roman"/>
                <a:cs typeface="Times New Roman"/>
                <a:sym typeface="Times New Roman"/>
              </a:rPr>
              <a:t>Results and discussions</a:t>
            </a:r>
            <a:endParaRPr/>
          </a:p>
          <a:p>
            <a:pPr indent="-514350" lvl="0" marL="514350" rtl="0" algn="l">
              <a:lnSpc>
                <a:spcPct val="150000"/>
              </a:lnSpc>
              <a:spcBef>
                <a:spcPts val="544"/>
              </a:spcBef>
              <a:spcAft>
                <a:spcPts val="0"/>
              </a:spcAft>
              <a:buClr>
                <a:srgbClr val="002060"/>
              </a:buClr>
              <a:buSzPct val="100000"/>
              <a:buAutoNum type="arabicPeriod"/>
            </a:pPr>
            <a:r>
              <a:rPr b="1" lang="en-US">
                <a:solidFill>
                  <a:srgbClr val="002060"/>
                </a:solidFill>
                <a:latin typeface="Times New Roman"/>
                <a:ea typeface="Times New Roman"/>
                <a:cs typeface="Times New Roman"/>
                <a:sym typeface="Times New Roman"/>
              </a:rPr>
              <a:t>Conclusions</a:t>
            </a:r>
            <a:endParaRPr/>
          </a:p>
          <a:p>
            <a:pPr indent="-514350" lvl="0" marL="514350" rtl="0" algn="l">
              <a:lnSpc>
                <a:spcPct val="150000"/>
              </a:lnSpc>
              <a:spcBef>
                <a:spcPts val="544"/>
              </a:spcBef>
              <a:spcAft>
                <a:spcPts val="0"/>
              </a:spcAft>
              <a:buClr>
                <a:srgbClr val="002060"/>
              </a:buClr>
              <a:buSzPct val="100000"/>
              <a:buAutoNum type="arabicPeriod"/>
            </a:pPr>
            <a:r>
              <a:rPr b="1" lang="en-US">
                <a:solidFill>
                  <a:srgbClr val="002060"/>
                </a:solidFill>
                <a:latin typeface="Times New Roman"/>
                <a:ea typeface="Times New Roman"/>
                <a:cs typeface="Times New Roman"/>
                <a:sym typeface="Times New Roman"/>
              </a:rPr>
              <a:t>References</a:t>
            </a:r>
            <a:endParaRPr b="1">
              <a:solidFill>
                <a:srgbClr val="E36C09"/>
              </a:solidFill>
              <a:latin typeface="Times New Roman"/>
              <a:ea typeface="Times New Roman"/>
              <a:cs typeface="Times New Roman"/>
              <a:sym typeface="Times New Roman"/>
            </a:endParaRPr>
          </a:p>
        </p:txBody>
      </p:sp>
      <p:sp>
        <p:nvSpPr>
          <p:cNvPr id="102" name="Google Shape;102;p1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5/19/2026</a:t>
            </a:r>
            <a:endParaRPr/>
          </a:p>
        </p:txBody>
      </p:sp>
      <p:pic>
        <p:nvPicPr>
          <p:cNvPr id="103" name="Google Shape;103;p15"/>
          <p:cNvPicPr preferRelativeResize="0"/>
          <p:nvPr/>
        </p:nvPicPr>
        <p:blipFill rotWithShape="1">
          <a:blip r:embed="rId3">
            <a:alphaModFix/>
          </a:blip>
          <a:srcRect b="0" l="0" r="0" t="0"/>
          <a:stretch/>
        </p:blipFill>
        <p:spPr>
          <a:xfrm>
            <a:off x="152400" y="137909"/>
            <a:ext cx="1263445" cy="98814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type="title"/>
          </p:nvPr>
        </p:nvSpPr>
        <p:spPr>
          <a:xfrm>
            <a:off x="0" y="15876"/>
            <a:ext cx="109728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632423"/>
              </a:buClr>
              <a:buSzPct val="100000"/>
              <a:buFont typeface="Times New Roman"/>
              <a:buNone/>
            </a:pPr>
            <a:r>
              <a:rPr b="1" lang="en-US">
                <a:solidFill>
                  <a:srgbClr val="632423"/>
                </a:solidFill>
                <a:latin typeface="Times New Roman"/>
                <a:ea typeface="Times New Roman"/>
                <a:cs typeface="Times New Roman"/>
                <a:sym typeface="Times New Roman"/>
              </a:rPr>
              <a:t>								             	</a:t>
            </a:r>
            <a:endParaRPr b="1">
              <a:solidFill>
                <a:srgbClr val="632423"/>
              </a:solidFill>
              <a:latin typeface="Times New Roman"/>
              <a:ea typeface="Times New Roman"/>
              <a:cs typeface="Times New Roman"/>
              <a:sym typeface="Times New Roman"/>
            </a:endParaRPr>
          </a:p>
          <a:p>
            <a:pPr indent="0" lvl="0" marL="0" rtl="0" algn="ctr">
              <a:spcBef>
                <a:spcPts val="0"/>
              </a:spcBef>
              <a:spcAft>
                <a:spcPts val="0"/>
              </a:spcAft>
              <a:buClr>
                <a:srgbClr val="632423"/>
              </a:buClr>
              <a:buSzPct val="100000"/>
              <a:buFont typeface="Times New Roman"/>
              <a:buNone/>
            </a:pPr>
            <a:r>
              <a:rPr b="1" lang="en-US">
                <a:solidFill>
                  <a:srgbClr val="632423"/>
                </a:solidFill>
                <a:latin typeface="Times New Roman"/>
                <a:ea typeface="Times New Roman"/>
                <a:cs typeface="Times New Roman"/>
                <a:sym typeface="Times New Roman"/>
              </a:rPr>
              <a:t>Introduction &amp; Motivation</a:t>
            </a:r>
            <a:br>
              <a:rPr b="1" lang="en-US">
                <a:solidFill>
                  <a:srgbClr val="632423"/>
                </a:solidFill>
                <a:latin typeface="Times New Roman"/>
                <a:ea typeface="Times New Roman"/>
                <a:cs typeface="Times New Roman"/>
                <a:sym typeface="Times New Roman"/>
              </a:rPr>
            </a:br>
            <a:endParaRPr>
              <a:solidFill>
                <a:srgbClr val="632423"/>
              </a:solidFill>
            </a:endParaRPr>
          </a:p>
        </p:txBody>
      </p:sp>
      <p:sp>
        <p:nvSpPr>
          <p:cNvPr id="109" name="Google Shape;109;p16"/>
          <p:cNvSpPr txBox="1"/>
          <p:nvPr>
            <p:ph idx="1" type="body"/>
          </p:nvPr>
        </p:nvSpPr>
        <p:spPr>
          <a:xfrm>
            <a:off x="1008100" y="1481550"/>
            <a:ext cx="9964800" cy="2819400"/>
          </a:xfrm>
          <a:prstGeom prst="rect">
            <a:avLst/>
          </a:prstGeom>
          <a:noFill/>
          <a:ln>
            <a:noFill/>
          </a:ln>
        </p:spPr>
        <p:txBody>
          <a:bodyPr anchorCtr="0" anchor="t" bIns="45700" lIns="91425" spcFirstLastPara="1" rIns="91425" wrap="square" tIns="45700">
            <a:normAutofit/>
          </a:bodyPr>
          <a:lstStyle/>
          <a:p>
            <a:pPr indent="-355600" lvl="0" marL="342900" rtl="0" algn="l">
              <a:lnSpc>
                <a:spcPct val="150000"/>
              </a:lnSpc>
              <a:spcBef>
                <a:spcPts val="360"/>
              </a:spcBef>
              <a:spcAft>
                <a:spcPts val="0"/>
              </a:spcAft>
              <a:buClr>
                <a:srgbClr val="002060"/>
              </a:buClr>
              <a:buSzPts val="2000"/>
              <a:buFont typeface="Times New Roman"/>
              <a:buChar char="•"/>
            </a:pPr>
            <a:r>
              <a:rPr lang="en-US" sz="2000">
                <a:latin typeface="Times New Roman"/>
                <a:ea typeface="Times New Roman"/>
                <a:cs typeface="Times New Roman"/>
                <a:sym typeface="Times New Roman"/>
              </a:rPr>
              <a:t>N</a:t>
            </a:r>
            <a:r>
              <a:rPr lang="en-US" sz="2000">
                <a:latin typeface="Times New Roman"/>
                <a:ea typeface="Times New Roman"/>
                <a:cs typeface="Times New Roman"/>
                <a:sym typeface="Times New Roman"/>
              </a:rPr>
              <a:t>eural decoding pipeline that takes raw intracortical neural recordings (512-channel electrode array data) from a paralyzed participant, decodes them into phoneme sequences using deep learning (RNN/GRU with CTC loss), and then converts those phonemes into readable English text using dictionary lookup + LLM fallback.</a:t>
            </a:r>
            <a:endParaRPr sz="2000">
              <a:latin typeface="Times New Roman"/>
              <a:ea typeface="Times New Roman"/>
              <a:cs typeface="Times New Roman"/>
              <a:sym typeface="Times New Roman"/>
            </a:endParaRPr>
          </a:p>
          <a:p>
            <a:pPr indent="0" lvl="0" marL="0" rtl="0" algn="l">
              <a:lnSpc>
                <a:spcPct val="150000"/>
              </a:lnSpc>
              <a:spcBef>
                <a:spcPts val="360"/>
              </a:spcBef>
              <a:spcAft>
                <a:spcPts val="0"/>
              </a:spcAft>
              <a:buNone/>
            </a:pPr>
            <a:r>
              <a:t/>
            </a:r>
            <a:endParaRPr sz="2000">
              <a:latin typeface="Times New Roman"/>
              <a:ea typeface="Times New Roman"/>
              <a:cs typeface="Times New Roman"/>
              <a:sym typeface="Times New Roman"/>
            </a:endParaRPr>
          </a:p>
        </p:txBody>
      </p:sp>
      <p:pic>
        <p:nvPicPr>
          <p:cNvPr id="110" name="Google Shape;110;p16"/>
          <p:cNvPicPr preferRelativeResize="0"/>
          <p:nvPr/>
        </p:nvPicPr>
        <p:blipFill rotWithShape="1">
          <a:blip r:embed="rId3">
            <a:alphaModFix/>
          </a:blip>
          <a:srcRect b="0" l="0" r="0" t="0"/>
          <a:stretch/>
        </p:blipFill>
        <p:spPr>
          <a:xfrm>
            <a:off x="0" y="15876"/>
            <a:ext cx="1008094" cy="874388"/>
          </a:xfrm>
          <a:prstGeom prst="rect">
            <a:avLst/>
          </a:prstGeom>
          <a:noFill/>
          <a:ln>
            <a:noFill/>
          </a:ln>
        </p:spPr>
      </p:pic>
      <p:sp>
        <p:nvSpPr>
          <p:cNvPr id="111" name="Google Shape;111;p16"/>
          <p:cNvSpPr txBox="1"/>
          <p:nvPr/>
        </p:nvSpPr>
        <p:spPr>
          <a:xfrm>
            <a:off x="1172550" y="3429000"/>
            <a:ext cx="9800400" cy="329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rgbClr val="1F3864"/>
                </a:solidFill>
                <a:latin typeface="Times New Roman"/>
                <a:ea typeface="Times New Roman"/>
                <a:cs typeface="Times New Roman"/>
                <a:sym typeface="Times New Roman"/>
              </a:rPr>
              <a:t>Motivation :</a:t>
            </a:r>
            <a:endParaRPr b="1" sz="2000">
              <a:solidFill>
                <a:srgbClr val="1F3864"/>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We came across a Brain-Computer Interface (BCI) competition on</a:t>
            </a:r>
            <a:r>
              <a:rPr lang="en-US" sz="200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 </a:t>
            </a:r>
            <a:r>
              <a:rPr lang="en-US" sz="2000" u="sng">
                <a:solidFill>
                  <a:schemeClr val="hlink"/>
                </a:solidFill>
                <a:latin typeface="Times New Roman"/>
                <a:ea typeface="Times New Roman"/>
                <a:cs typeface="Times New Roman"/>
                <a:sym typeface="Times New Roman"/>
                <a:hlinkClick r:id="rId5"/>
              </a:rPr>
              <a:t>Kaggle</a:t>
            </a:r>
            <a:r>
              <a:rPr lang="en-US" sz="2000">
                <a:solidFill>
                  <a:schemeClr val="dk1"/>
                </a:solidFill>
                <a:latin typeface="Times New Roman"/>
                <a:ea typeface="Times New Roman"/>
                <a:cs typeface="Times New Roman"/>
                <a:sym typeface="Times New Roman"/>
              </a:rPr>
              <a:t> and got curious about how BCIs actually work.</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While exploring the project and dataset, we found the concept of interpreting brain signals using AI and machine learning really interesting.</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This motivated us to build the project ourselves as a way to learn more about EEG signals, Brain-Computer Interfaces, and real-world AI applications.</a:t>
            </a:r>
            <a:endParaRPr sz="2000">
              <a:solidFill>
                <a:schemeClr val="dk1"/>
              </a:solidFill>
              <a:latin typeface="Times New Roman"/>
              <a:ea typeface="Times New Roman"/>
              <a:cs typeface="Times New Roman"/>
              <a:sym typeface="Times New Roman"/>
            </a:endParaRPr>
          </a:p>
          <a:p>
            <a:pPr indent="0" lvl="0" marL="0" marR="0" rtl="0" algn="l">
              <a:lnSpc>
                <a:spcPct val="150000"/>
              </a:lnSpc>
              <a:spcBef>
                <a:spcPts val="1200"/>
              </a:spcBef>
              <a:spcAft>
                <a:spcPts val="0"/>
              </a:spcAft>
              <a:buNone/>
            </a:pPr>
            <a:r>
              <a:t/>
            </a:r>
            <a:endParaRPr sz="2000">
              <a:solidFill>
                <a:srgbClr val="00206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609600" y="26323"/>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632423"/>
              </a:buClr>
              <a:buSzPts val="4000"/>
              <a:buFont typeface="Times New Roman"/>
              <a:buNone/>
            </a:pPr>
            <a:r>
              <a:rPr b="1" lang="en-US" sz="4000">
                <a:solidFill>
                  <a:srgbClr val="632423"/>
                </a:solidFill>
                <a:latin typeface="Times New Roman"/>
                <a:ea typeface="Times New Roman"/>
                <a:cs typeface="Times New Roman"/>
                <a:sym typeface="Times New Roman"/>
              </a:rPr>
              <a:t>Problem Statement</a:t>
            </a:r>
            <a:endParaRPr/>
          </a:p>
        </p:txBody>
      </p:sp>
      <p:sp>
        <p:nvSpPr>
          <p:cNvPr id="117" name="Google Shape;117;p17"/>
          <p:cNvSpPr txBox="1"/>
          <p:nvPr>
            <p:ph idx="1" type="body"/>
          </p:nvPr>
        </p:nvSpPr>
        <p:spPr>
          <a:xfrm>
            <a:off x="1187250" y="1822725"/>
            <a:ext cx="9727200" cy="4455000"/>
          </a:xfrm>
          <a:prstGeom prst="rect">
            <a:avLst/>
          </a:prstGeom>
          <a:noFill/>
          <a:ln>
            <a:noFill/>
          </a:ln>
        </p:spPr>
        <p:txBody>
          <a:bodyPr anchorCtr="0" anchor="t" bIns="45700" lIns="91425" spcFirstLastPara="1" rIns="91425" wrap="square" tIns="45700">
            <a:normAutofit/>
          </a:bodyPr>
          <a:lstStyle/>
          <a:p>
            <a:pPr indent="-355600" lvl="0" marL="342900" rtl="0" algn="l">
              <a:lnSpc>
                <a:spcPct val="115000"/>
              </a:lnSpc>
              <a:spcBef>
                <a:spcPts val="1200"/>
              </a:spcBef>
              <a:spcAft>
                <a:spcPts val="0"/>
              </a:spcAft>
              <a:buSzPts val="2000"/>
              <a:buChar char="•"/>
            </a:pPr>
            <a:r>
              <a:rPr lang="en-US" sz="2000">
                <a:latin typeface="Times New Roman"/>
                <a:ea typeface="Times New Roman"/>
                <a:cs typeface="Times New Roman"/>
                <a:sym typeface="Times New Roman"/>
              </a:rPr>
              <a:t>Most existing Brain Computer Interface models are designed mainly for clinical testing and research purposes, while very few ready-to-use inference models are publicly available.</a:t>
            </a:r>
            <a:endParaRPr sz="2000">
              <a:latin typeface="Times New Roman"/>
              <a:ea typeface="Times New Roman"/>
              <a:cs typeface="Times New Roman"/>
              <a:sym typeface="Times New Roman"/>
            </a:endParaRPr>
          </a:p>
          <a:p>
            <a:pPr indent="0" lvl="0" marL="342900" rtl="0" algn="l">
              <a:lnSpc>
                <a:spcPct val="115000"/>
              </a:lnSpc>
              <a:spcBef>
                <a:spcPts val="1200"/>
              </a:spcBef>
              <a:spcAft>
                <a:spcPts val="0"/>
              </a:spcAft>
              <a:buNone/>
            </a:pPr>
            <a:r>
              <a:t/>
            </a:r>
            <a:endParaRPr sz="2000">
              <a:latin typeface="Times New Roman"/>
              <a:ea typeface="Times New Roman"/>
              <a:cs typeface="Times New Roman"/>
              <a:sym typeface="Times New Roman"/>
            </a:endParaRPr>
          </a:p>
          <a:p>
            <a:pPr indent="-355600" lvl="0" marL="342900" rtl="0" algn="l">
              <a:lnSpc>
                <a:spcPct val="115000"/>
              </a:lnSpc>
              <a:spcBef>
                <a:spcPts val="1200"/>
              </a:spcBef>
              <a:spcAft>
                <a:spcPts val="0"/>
              </a:spcAft>
              <a:buSzPts val="2000"/>
              <a:buChar char="•"/>
            </a:pPr>
            <a:r>
              <a:rPr lang="en-US" sz="2000">
                <a:latin typeface="Times New Roman"/>
                <a:ea typeface="Times New Roman"/>
                <a:cs typeface="Times New Roman"/>
                <a:sym typeface="Times New Roman"/>
              </a:rPr>
              <a:t>Brain</a:t>
            </a:r>
            <a:r>
              <a:rPr lang="en-US" sz="2000">
                <a:latin typeface="Times New Roman"/>
                <a:ea typeface="Times New Roman"/>
                <a:cs typeface="Times New Roman"/>
                <a:sym typeface="Times New Roman"/>
              </a:rPr>
              <a:t> Computer Interface systems require high computational power because they process large amounts of complex EEG and neural signal data in real time.</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2000">
              <a:latin typeface="Times New Roman"/>
              <a:ea typeface="Times New Roman"/>
              <a:cs typeface="Times New Roman"/>
              <a:sym typeface="Times New Roman"/>
            </a:endParaRPr>
          </a:p>
          <a:p>
            <a:pPr indent="-355600" lvl="0" marL="342900" rtl="0" algn="l">
              <a:lnSpc>
                <a:spcPct val="115000"/>
              </a:lnSpc>
              <a:spcBef>
                <a:spcPts val="1200"/>
              </a:spcBef>
              <a:spcAft>
                <a:spcPts val="0"/>
              </a:spcAft>
              <a:buSzPts val="2000"/>
              <a:buChar char="•"/>
            </a:pPr>
            <a:r>
              <a:rPr lang="en-US" sz="2000">
                <a:latin typeface="Times New Roman"/>
                <a:ea typeface="Times New Roman"/>
                <a:cs typeface="Times New Roman"/>
                <a:sym typeface="Times New Roman"/>
              </a:rPr>
              <a:t>The data schema is highly complex and noisy, which makes analyzing, preprocessing, and building reliable models more challenging.</a:t>
            </a:r>
            <a:endParaRPr sz="2000">
              <a:latin typeface="Times New Roman"/>
              <a:ea typeface="Times New Roman"/>
              <a:cs typeface="Times New Roman"/>
              <a:sym typeface="Times New Roman"/>
            </a:endParaRPr>
          </a:p>
          <a:p>
            <a:pPr indent="0" lvl="0" marL="0" rtl="0" algn="l">
              <a:lnSpc>
                <a:spcPct val="150000"/>
              </a:lnSpc>
              <a:spcBef>
                <a:spcPts val="1200"/>
              </a:spcBef>
              <a:spcAft>
                <a:spcPts val="0"/>
              </a:spcAft>
              <a:buNone/>
            </a:pPr>
            <a:r>
              <a:t/>
            </a:r>
            <a:endParaRPr sz="2000">
              <a:latin typeface="Times New Roman"/>
              <a:ea typeface="Times New Roman"/>
              <a:cs typeface="Times New Roman"/>
              <a:sym typeface="Times New Roman"/>
            </a:endParaRPr>
          </a:p>
        </p:txBody>
      </p:sp>
      <p:sp>
        <p:nvSpPr>
          <p:cNvPr id="118" name="Google Shape;118;p1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5/19/2026</a:t>
            </a:r>
            <a:endParaRPr/>
          </a:p>
        </p:txBody>
      </p:sp>
      <p:pic>
        <p:nvPicPr>
          <p:cNvPr id="119" name="Google Shape;119;p17"/>
          <p:cNvPicPr preferRelativeResize="0"/>
          <p:nvPr/>
        </p:nvPicPr>
        <p:blipFill rotWithShape="1">
          <a:blip r:embed="rId3">
            <a:alphaModFix/>
          </a:blip>
          <a:srcRect b="0" l="0" r="0" t="0"/>
          <a:stretch/>
        </p:blipFill>
        <p:spPr>
          <a:xfrm>
            <a:off x="0" y="0"/>
            <a:ext cx="1187245" cy="9881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18"/>
          <p:cNvPicPr preferRelativeResize="0"/>
          <p:nvPr/>
        </p:nvPicPr>
        <p:blipFill rotWithShape="1">
          <a:blip r:embed="rId3">
            <a:alphaModFix/>
          </a:blip>
          <a:srcRect b="0" l="0" r="0" t="0"/>
          <a:stretch/>
        </p:blipFill>
        <p:spPr>
          <a:xfrm>
            <a:off x="76200" y="121019"/>
            <a:ext cx="1003363" cy="869581"/>
          </a:xfrm>
          <a:prstGeom prst="rect">
            <a:avLst/>
          </a:prstGeom>
          <a:noFill/>
          <a:ln>
            <a:noFill/>
          </a:ln>
        </p:spPr>
      </p:pic>
      <p:sp>
        <p:nvSpPr>
          <p:cNvPr id="125" name="Google Shape;125;p18"/>
          <p:cNvSpPr txBox="1"/>
          <p:nvPr/>
        </p:nvSpPr>
        <p:spPr>
          <a:xfrm>
            <a:off x="2971800" y="77941"/>
            <a:ext cx="72384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632423"/>
                </a:solidFill>
                <a:latin typeface="Times New Roman"/>
                <a:ea typeface="Times New Roman"/>
                <a:cs typeface="Times New Roman"/>
                <a:sym typeface="Times New Roman"/>
              </a:rPr>
              <a:t>Literature Review</a:t>
            </a:r>
            <a:r>
              <a:rPr b="1" lang="en-US" sz="2800">
                <a:solidFill>
                  <a:srgbClr val="632423"/>
                </a:solidFill>
                <a:latin typeface="Times New Roman"/>
                <a:ea typeface="Times New Roman"/>
                <a:cs typeface="Times New Roman"/>
                <a:sym typeface="Times New Roman"/>
              </a:rPr>
              <a:t> &amp; Gap Analysis</a:t>
            </a:r>
            <a:endParaRPr/>
          </a:p>
        </p:txBody>
      </p:sp>
      <p:graphicFrame>
        <p:nvGraphicFramePr>
          <p:cNvPr id="126" name="Google Shape;126;p18"/>
          <p:cNvGraphicFramePr/>
          <p:nvPr/>
        </p:nvGraphicFramePr>
        <p:xfrm>
          <a:off x="2378050" y="820900"/>
          <a:ext cx="3000000" cy="3000000"/>
        </p:xfrm>
        <a:graphic>
          <a:graphicData uri="http://schemas.openxmlformats.org/drawingml/2006/table">
            <a:tbl>
              <a:tblPr>
                <a:noFill/>
                <a:tableStyleId>{4E8D39A4-147D-4B04-AC8C-48A49F645DE5}</a:tableStyleId>
              </a:tblPr>
              <a:tblGrid>
                <a:gridCol w="382850"/>
                <a:gridCol w="2123925"/>
                <a:gridCol w="2306800"/>
                <a:gridCol w="2046575"/>
              </a:tblGrid>
              <a:tr h="360175">
                <a:tc>
                  <a:txBody>
                    <a:bodyPr/>
                    <a:lstStyle/>
                    <a:p>
                      <a:pPr indent="0" lvl="0" marL="0" rtl="0" algn="ctr">
                        <a:lnSpc>
                          <a:spcPct val="115000"/>
                        </a:lnSpc>
                        <a:spcBef>
                          <a:spcPts val="0"/>
                        </a:spcBef>
                        <a:spcAft>
                          <a:spcPts val="0"/>
                        </a:spcAft>
                        <a:buNone/>
                      </a:pPr>
                      <a:r>
                        <a:rPr b="1" lang="en-US" sz="1100"/>
                        <a: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Paper / Source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What They Did</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Their Approach</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80725">
                <a:tc>
                  <a:txBody>
                    <a:bodyPr/>
                    <a:lstStyle/>
                    <a:p>
                      <a:pPr indent="0" lvl="0" marL="0" rtl="0" algn="l">
                        <a:spcBef>
                          <a:spcPts val="0"/>
                        </a:spcBef>
                        <a:spcAft>
                          <a:spcPts val="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Willett et al. (2023) — Stanford BrainGate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Converted brain signals into handwritten text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RNN + Language Model</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82875">
                <a:tc>
                  <a:txBody>
                    <a:bodyPr/>
                    <a:lstStyle/>
                    <a:p>
                      <a:pPr indent="0" lvl="0" marL="0" rtl="0" algn="l">
                        <a:spcBef>
                          <a:spcPts val="0"/>
                        </a:spcBef>
                        <a:spcAft>
                          <a:spcPts val="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Meta AI (2022) — Speech Neuroprosthesis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Converted brain activity into speech</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Transformer Encoder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82875">
                <a:tc>
                  <a:txBody>
                    <a:bodyPr/>
                    <a:lstStyle/>
                    <a:p>
                      <a:pPr indent="0" lvl="0" marL="0" rtl="0" algn="l">
                        <a:spcBef>
                          <a:spcPts val="0"/>
                        </a:spcBef>
                        <a:spcAft>
                          <a:spcPts val="0"/>
                        </a:spcAft>
                        <a:buNone/>
                      </a:pPr>
                      <a:r>
                        <a:rPr lang="en-US"/>
                        <a:t>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Kaggle Brain-to-Text '25 Baseline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Provided starter code for brain-to-text decoding</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Pre-trained RNN + N-gram Language Model</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80725">
                <a:tc>
                  <a:txBody>
                    <a:bodyPr/>
                    <a:lstStyle/>
                    <a:p>
                      <a:pPr indent="0" lvl="0" marL="0" rtl="0" algn="l">
                        <a:spcBef>
                          <a:spcPts val="0"/>
                        </a:spcBef>
                        <a:spcAft>
                          <a:spcPts val="0"/>
                        </a:spcAft>
                        <a:buNone/>
                      </a:pPr>
                      <a:r>
                        <a:rPr lang="en-US"/>
                        <a:t>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BrainGate Clinical Trial Papers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Helped paralyzed patients communicate using BCI</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Recurrent Neural Networks (RNN/GRU)</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82875">
                <a:tc>
                  <a:txBody>
                    <a:bodyPr/>
                    <a:lstStyle/>
                    <a:p>
                      <a:pPr indent="0" lvl="0" marL="0" rtl="0" algn="l">
                        <a:spcBef>
                          <a:spcPts val="0"/>
                        </a:spcBef>
                        <a:spcAft>
                          <a:spcPts val="0"/>
                        </a:spcAft>
                        <a:buNone/>
                      </a:pPr>
                      <a:r>
                        <a:rPr lang="en-US"/>
                        <a:t>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CTC-based Speech Recognition (Graves et al.)</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Improved sequence prediction from signals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CTC Loss + RNN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27" name="Google Shape;127;p18"/>
          <p:cNvGraphicFramePr/>
          <p:nvPr/>
        </p:nvGraphicFramePr>
        <p:xfrm>
          <a:off x="695325" y="4971450"/>
          <a:ext cx="3000000" cy="3000000"/>
        </p:xfrm>
        <a:graphic>
          <a:graphicData uri="http://schemas.openxmlformats.org/drawingml/2006/table">
            <a:tbl>
              <a:tblPr>
                <a:noFill/>
                <a:tableStyleId>{4E8D39A4-147D-4B04-AC8C-48A49F645DE5}</a:tableStyleId>
              </a:tblPr>
              <a:tblGrid>
                <a:gridCol w="1781175"/>
                <a:gridCol w="2990850"/>
                <a:gridCol w="2390775"/>
                <a:gridCol w="3638550"/>
              </a:tblGrid>
              <a:tr h="200025">
                <a:tc>
                  <a:txBody>
                    <a:bodyPr/>
                    <a:lstStyle/>
                    <a:p>
                      <a:pPr indent="0" lvl="0" marL="0" rtl="0" algn="ctr">
                        <a:lnSpc>
                          <a:spcPct val="115000"/>
                        </a:lnSpc>
                        <a:spcBef>
                          <a:spcPts val="0"/>
                        </a:spcBef>
                        <a:spcAft>
                          <a:spcPts val="0"/>
                        </a:spcAft>
                        <a:buNone/>
                      </a:pPr>
                      <a:r>
                        <a:rPr b="1" lang="en-US" sz="1100"/>
                        <a:t>Approach</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How It Works</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Advantage</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Limitation</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 Direct Word Prediction</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Brain signals → Predict complete words directly</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Simple and fast</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Limited vocabulary, cannot predict new words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Character-level Decoding</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Brain signals → Predict letters one by one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More flexible and can form new words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Slower and harder to accurately map brain signals to letters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19"/>
          <p:cNvPicPr preferRelativeResize="0"/>
          <p:nvPr/>
        </p:nvPicPr>
        <p:blipFill rotWithShape="1">
          <a:blip r:embed="rId3">
            <a:alphaModFix/>
          </a:blip>
          <a:srcRect b="0" l="0" r="0" t="0"/>
          <a:stretch/>
        </p:blipFill>
        <p:spPr>
          <a:xfrm>
            <a:off x="0" y="0"/>
            <a:ext cx="967154" cy="838200"/>
          </a:xfrm>
          <a:prstGeom prst="rect">
            <a:avLst/>
          </a:prstGeom>
          <a:noFill/>
          <a:ln>
            <a:noFill/>
          </a:ln>
        </p:spPr>
      </p:pic>
      <p:sp>
        <p:nvSpPr>
          <p:cNvPr id="133" name="Google Shape;133;p19"/>
          <p:cNvSpPr txBox="1"/>
          <p:nvPr/>
        </p:nvSpPr>
        <p:spPr>
          <a:xfrm>
            <a:off x="2575725" y="258975"/>
            <a:ext cx="76200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rgbClr val="632423"/>
                </a:solidFill>
                <a:latin typeface="Times New Roman"/>
                <a:ea typeface="Times New Roman"/>
                <a:cs typeface="Times New Roman"/>
                <a:sym typeface="Times New Roman"/>
              </a:rPr>
              <a:t>Objectives </a:t>
            </a:r>
            <a:endParaRPr/>
          </a:p>
        </p:txBody>
      </p:sp>
      <p:graphicFrame>
        <p:nvGraphicFramePr>
          <p:cNvPr id="134" name="Google Shape;134;p19"/>
          <p:cNvGraphicFramePr/>
          <p:nvPr/>
        </p:nvGraphicFramePr>
        <p:xfrm>
          <a:off x="967125" y="1227450"/>
          <a:ext cx="3000000" cy="3000000"/>
        </p:xfrm>
        <a:graphic>
          <a:graphicData uri="http://schemas.openxmlformats.org/drawingml/2006/table">
            <a:tbl>
              <a:tblPr>
                <a:noFill/>
                <a:tableStyleId>{4E8D39A4-147D-4B04-AC8C-48A49F645DE5}</a:tableStyleId>
              </a:tblPr>
              <a:tblGrid>
                <a:gridCol w="2429875"/>
                <a:gridCol w="4641775"/>
              </a:tblGrid>
              <a:tr h="557550">
                <a:tc>
                  <a:txBody>
                    <a:bodyPr/>
                    <a:lstStyle/>
                    <a:p>
                      <a:pPr indent="0" lvl="0" marL="0" rtl="0" algn="ctr">
                        <a:lnSpc>
                          <a:spcPct val="115000"/>
                        </a:lnSpc>
                        <a:spcBef>
                          <a:spcPts val="0"/>
                        </a:spcBef>
                        <a:spcAft>
                          <a:spcPts val="0"/>
                        </a:spcAft>
                        <a:buNone/>
                      </a:pPr>
                      <a:r>
                        <a:rPr b="1" lang="en-US" sz="1100"/>
                        <a:t>Objectives</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How We Achieved It</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98975">
                <a:tc>
                  <a:txBody>
                    <a:bodyPr/>
                    <a:lstStyle/>
                    <a:p>
                      <a:pPr indent="0" lvl="0" marL="0" rtl="0" algn="l">
                        <a:spcBef>
                          <a:spcPts val="0"/>
                        </a:spcBef>
                        <a:spcAft>
                          <a:spcPts val="0"/>
                        </a:spcAft>
                        <a:buNone/>
                      </a:pPr>
                      <a:r>
                        <a:rPr lang="en-US"/>
                        <a:t>Decode Phoneme</a:t>
                      </a:r>
                      <a:endParaRPr/>
                    </a:p>
                    <a:p>
                      <a:pPr indent="0" lvl="0" marL="0" rtl="0" algn="l">
                        <a:spcBef>
                          <a:spcPts val="0"/>
                        </a:spcBef>
                        <a:spcAft>
                          <a:spcPts val="0"/>
                        </a:spcAft>
                        <a:buNone/>
                      </a:pPr>
                      <a:r>
                        <a:rPr lang="en-US"/>
                        <a:t>from brain signals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Used EEG/BCI brain signal data with deep learning models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98975">
                <a:tc>
                  <a:txBody>
                    <a:bodyPr/>
                    <a:lstStyle/>
                    <a:p>
                      <a:pPr indent="0" lvl="0" marL="0" rtl="0" algn="l">
                        <a:spcBef>
                          <a:spcPts val="0"/>
                        </a:spcBef>
                        <a:spcAft>
                          <a:spcPts val="0"/>
                        </a:spcAft>
                        <a:buNone/>
                      </a:pPr>
                      <a:r>
                        <a:rPr lang="en-US"/>
                        <a:t>Evaluate multiple neural network architectures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Tested different models such as RNN, GRU, and Transformer-based approaches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98975">
                <a:tc>
                  <a:txBody>
                    <a:bodyPr/>
                    <a:lstStyle/>
                    <a:p>
                      <a:pPr indent="0" lvl="0" marL="0" rtl="0" algn="l">
                        <a:spcBef>
                          <a:spcPts val="0"/>
                        </a:spcBef>
                        <a:spcAft>
                          <a:spcPts val="0"/>
                        </a:spcAft>
                        <a:buNone/>
                      </a:pPr>
                      <a:r>
                        <a:rPr lang="en-US"/>
                        <a:t>Minimize phoneme error rate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Applied preprocessing, feature extraction, and model optimization techniques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98975">
                <a:tc>
                  <a:txBody>
                    <a:bodyPr/>
                    <a:lstStyle/>
                    <a:p>
                      <a:pPr indent="0" lvl="0" marL="0" rtl="0" algn="l">
                        <a:spcBef>
                          <a:spcPts val="0"/>
                        </a:spcBef>
                        <a:spcAft>
                          <a:spcPts val="0"/>
                        </a:spcAft>
                        <a:buNone/>
                      </a:pPr>
                      <a:r>
                        <a:rPr lang="en-US"/>
                        <a:t>Build an end-to-end Brain-to-Text pipeline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Integrated data preprocessing, model training, inference, and decoding into one workflow</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98975">
                <a:tc>
                  <a:txBody>
                    <a:bodyPr/>
                    <a:lstStyle/>
                    <a:p>
                      <a:pPr indent="0" lvl="0" marL="0" rtl="0" algn="l">
                        <a:spcBef>
                          <a:spcPts val="0"/>
                        </a:spcBef>
                        <a:spcAft>
                          <a:spcPts val="0"/>
                        </a:spcAft>
                        <a:buNone/>
                      </a:pPr>
                      <a:r>
                        <a:rPr lang="en-US"/>
                        <a:t>Build a real-time demonstration interface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Developed an interface for live signal input and text output visualization</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35" name="Google Shape;135;p19"/>
          <p:cNvSpPr txBox="1"/>
          <p:nvPr/>
        </p:nvSpPr>
        <p:spPr>
          <a:xfrm>
            <a:off x="8517425" y="2683975"/>
            <a:ext cx="3000000" cy="1522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1100">
                <a:solidFill>
                  <a:schemeClr val="dk1"/>
                </a:solidFill>
              </a:rPr>
              <a:t>Outcome : </a:t>
            </a:r>
            <a:br>
              <a:rPr b="1" lang="en-US" sz="1100">
                <a:solidFill>
                  <a:schemeClr val="dk1"/>
                </a:solidFill>
              </a:rPr>
            </a:br>
            <a:br>
              <a:rPr b="1" lang="en-US" sz="1100">
                <a:solidFill>
                  <a:schemeClr val="dk1"/>
                </a:solidFill>
              </a:rPr>
            </a:br>
            <a:r>
              <a:rPr b="1" lang="en-US" sz="1100">
                <a:solidFill>
                  <a:schemeClr val="dk1"/>
                </a:solidFill>
              </a:rPr>
              <a:t>Research Paper </a:t>
            </a:r>
            <a:endParaRPr b="1" sz="1100">
              <a:solidFill>
                <a:schemeClr val="dk1"/>
              </a:solidFill>
            </a:endParaRPr>
          </a:p>
          <a:p>
            <a:pPr indent="0" lvl="0" marL="0" rtl="0" algn="ctr">
              <a:lnSpc>
                <a:spcPct val="115000"/>
              </a:lnSpc>
              <a:spcBef>
                <a:spcPts val="0"/>
              </a:spcBef>
              <a:spcAft>
                <a:spcPts val="0"/>
              </a:spcAft>
              <a:buNone/>
            </a:pPr>
            <a:r>
              <a:t/>
            </a:r>
            <a:endParaRPr b="1" sz="1100">
              <a:solidFill>
                <a:schemeClr val="dk1"/>
              </a:solidFill>
            </a:endParaRPr>
          </a:p>
          <a:p>
            <a:pPr indent="0" lvl="0" marL="0" rtl="0" algn="ctr">
              <a:lnSpc>
                <a:spcPct val="115000"/>
              </a:lnSpc>
              <a:spcBef>
                <a:spcPts val="0"/>
              </a:spcBef>
              <a:spcAft>
                <a:spcPts val="0"/>
              </a:spcAft>
              <a:buNone/>
            </a:pPr>
            <a:r>
              <a:rPr lang="en-US" sz="1100">
                <a:solidFill>
                  <a:srgbClr val="4A86E8"/>
                </a:solidFill>
              </a:rPr>
              <a:t>https://drive.google.com/drive/folders/1msObycNHTl3uLcKsOTvhjlVXWxcPzith?usp=sharing</a:t>
            </a:r>
            <a:endParaRPr sz="1100">
              <a:solidFill>
                <a:srgbClr val="4A86E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0"/>
          <p:cNvPicPr preferRelativeResize="0"/>
          <p:nvPr/>
        </p:nvPicPr>
        <p:blipFill rotWithShape="1">
          <a:blip r:embed="rId3">
            <a:alphaModFix/>
          </a:blip>
          <a:srcRect b="0" l="0" r="0" t="0"/>
          <a:stretch/>
        </p:blipFill>
        <p:spPr>
          <a:xfrm>
            <a:off x="0" y="0"/>
            <a:ext cx="967154" cy="838200"/>
          </a:xfrm>
          <a:prstGeom prst="rect">
            <a:avLst/>
          </a:prstGeom>
          <a:noFill/>
          <a:ln>
            <a:noFill/>
          </a:ln>
        </p:spPr>
      </p:pic>
      <p:sp>
        <p:nvSpPr>
          <p:cNvPr id="141" name="Google Shape;141;p20"/>
          <p:cNvSpPr txBox="1"/>
          <p:nvPr/>
        </p:nvSpPr>
        <p:spPr>
          <a:xfrm>
            <a:off x="2575725" y="258975"/>
            <a:ext cx="76200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rgbClr val="632423"/>
                </a:solidFill>
                <a:latin typeface="Times New Roman"/>
                <a:ea typeface="Times New Roman"/>
                <a:cs typeface="Times New Roman"/>
                <a:sym typeface="Times New Roman"/>
              </a:rPr>
              <a:t>Dataset</a:t>
            </a:r>
            <a:r>
              <a:rPr b="1" lang="en-US" sz="4000">
                <a:solidFill>
                  <a:srgbClr val="632423"/>
                </a:solidFill>
                <a:latin typeface="Times New Roman"/>
                <a:ea typeface="Times New Roman"/>
                <a:cs typeface="Times New Roman"/>
                <a:sym typeface="Times New Roman"/>
              </a:rPr>
              <a:t> </a:t>
            </a:r>
            <a:endParaRPr/>
          </a:p>
        </p:txBody>
      </p:sp>
      <p:sp>
        <p:nvSpPr>
          <p:cNvPr id="142" name="Google Shape;142;p20"/>
          <p:cNvSpPr txBox="1"/>
          <p:nvPr/>
        </p:nvSpPr>
        <p:spPr>
          <a:xfrm>
            <a:off x="8517425" y="2683975"/>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rgbClr val="4A86E8"/>
              </a:solidFill>
            </a:endParaRPr>
          </a:p>
        </p:txBody>
      </p:sp>
      <p:sp>
        <p:nvSpPr>
          <p:cNvPr id="143" name="Google Shape;143;p20"/>
          <p:cNvSpPr txBox="1"/>
          <p:nvPr/>
        </p:nvSpPr>
        <p:spPr>
          <a:xfrm>
            <a:off x="111400" y="1063900"/>
            <a:ext cx="3592800" cy="318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Dataset Information</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The dataset is a </a:t>
            </a:r>
            <a:r>
              <a:rPr b="1" lang="en-US" sz="1100">
                <a:solidFill>
                  <a:schemeClr val="dk1"/>
                </a:solidFill>
              </a:rPr>
              <a:t>Brain-Computer Interface (BCI) neural speech dataset</a:t>
            </a:r>
            <a:r>
              <a:rPr lang="en-US" sz="1100">
                <a:solidFill>
                  <a:schemeClr val="dk1"/>
                </a:solidFill>
              </a:rPr>
              <a:t> designed for Brain-to-Text and imagined speech decoding research.</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Neural activity was recorded from the </a:t>
            </a:r>
            <a:r>
              <a:rPr b="1" lang="en-US" sz="1100">
                <a:solidFill>
                  <a:schemeClr val="dk1"/>
                </a:solidFill>
              </a:rPr>
              <a:t>T15 clinical trial participant</a:t>
            </a:r>
            <a:r>
              <a:rPr lang="en-US" sz="1100">
                <a:solidFill>
                  <a:schemeClr val="dk1"/>
                </a:solidFill>
              </a:rPr>
              <a:t> over nearly </a:t>
            </a:r>
            <a:r>
              <a:rPr b="1" lang="en-US" sz="1100">
                <a:solidFill>
                  <a:schemeClr val="dk1"/>
                </a:solidFill>
              </a:rPr>
              <a:t>2 years</a:t>
            </a:r>
            <a:r>
              <a:rPr lang="en-US" sz="1100">
                <a:solidFill>
                  <a:schemeClr val="dk1"/>
                </a:solidFill>
              </a:rPr>
              <a:t> of data collection.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Brain signals were captured using </a:t>
            </a:r>
            <a:r>
              <a:rPr b="1" lang="en-US" sz="1100">
                <a:solidFill>
                  <a:schemeClr val="dk1"/>
                </a:solidFill>
              </a:rPr>
              <a:t>512 implanted electrodes</a:t>
            </a:r>
            <a:r>
              <a:rPr lang="en-US" sz="1100">
                <a:solidFill>
                  <a:schemeClr val="dk1"/>
                </a:solidFill>
              </a:rPr>
              <a:t>, which recorded neural activity while the participant attempted or imagined speaking words and sentences.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The dataset contains approximately </a:t>
            </a:r>
            <a:r>
              <a:rPr b="1" lang="en-US" sz="1100">
                <a:solidFill>
                  <a:schemeClr val="dk1"/>
                </a:solidFill>
              </a:rPr>
              <a:t>10,000+ speech-related trials</a:t>
            </a:r>
            <a:r>
              <a:rPr lang="en-US" sz="1100">
                <a:solidFill>
                  <a:schemeClr val="dk1"/>
                </a:solidFill>
              </a:rPr>
              <a:t>, providing a large-scale dataset for training deep learning models.</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Dataset Type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Neural signal / EEG-like intracortical time-series dataset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Sequential brain activity data for speech decoding tasks</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sp>
        <p:nvSpPr>
          <p:cNvPr id="144" name="Google Shape;144;p20"/>
          <p:cNvSpPr txBox="1"/>
          <p:nvPr/>
        </p:nvSpPr>
        <p:spPr>
          <a:xfrm>
            <a:off x="3879625" y="1063900"/>
            <a:ext cx="4010400" cy="329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Dataset Format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Stored primarily in </a:t>
            </a:r>
            <a:r>
              <a:rPr b="1" lang="en-US" sz="1100">
                <a:solidFill>
                  <a:srgbClr val="188038"/>
                </a:solidFill>
                <a:latin typeface="Roboto Mono"/>
                <a:ea typeface="Roboto Mono"/>
                <a:cs typeface="Roboto Mono"/>
                <a:sym typeface="Roboto Mono"/>
              </a:rPr>
              <a:t>.npy</a:t>
            </a:r>
            <a:r>
              <a:rPr b="1" lang="en-US" sz="1100">
                <a:solidFill>
                  <a:schemeClr val="dk1"/>
                </a:solidFill>
              </a:rPr>
              <a:t> (NumPy array)</a:t>
            </a:r>
            <a:r>
              <a:rPr lang="en-US" sz="1100">
                <a:solidFill>
                  <a:schemeClr val="dk1"/>
                </a:solidFill>
              </a:rPr>
              <a:t> format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Each sample has dimensions similar to </a:t>
            </a:r>
            <a:r>
              <a:rPr b="1" lang="en-US" sz="1100">
                <a:solidFill>
                  <a:schemeClr val="dk1"/>
                </a:solidFill>
              </a:rPr>
              <a:t>(T × 512)</a:t>
            </a:r>
            <a:r>
              <a:rPr lang="en-US" sz="1100">
                <a:solidFill>
                  <a:schemeClr val="dk1"/>
                </a:solidFill>
              </a:rPr>
              <a:t> where: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T</a:t>
            </a:r>
            <a:r>
              <a:rPr lang="en-US" sz="1100">
                <a:solidFill>
                  <a:schemeClr val="dk1"/>
                </a:solidFill>
              </a:rPr>
              <a:t> = Number of time steps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512</a:t>
            </a:r>
            <a:r>
              <a:rPr lang="en-US" sz="1100">
                <a:solidFill>
                  <a:schemeClr val="dk1"/>
                </a:solidFill>
              </a:rPr>
              <a:t> = Electrode channels/features</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Data Cleaning &amp; Preprocessing</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The dataset originally contained around </a:t>
            </a:r>
            <a:r>
              <a:rPr b="1" lang="en-US" sz="1100">
                <a:solidFill>
                  <a:schemeClr val="dk1"/>
                </a:solidFill>
              </a:rPr>
              <a:t>45 recording sessions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Out of these, </a:t>
            </a:r>
            <a:r>
              <a:rPr b="1" lang="en-US" sz="1100">
                <a:solidFill>
                  <a:schemeClr val="dk1"/>
                </a:solidFill>
              </a:rPr>
              <a:t>4 sessions were removed</a:t>
            </a:r>
            <a:r>
              <a:rPr lang="en-US" sz="1100">
                <a:solidFill>
                  <a:schemeClr val="dk1"/>
                </a:solidFill>
              </a:rPr>
              <a:t> because they did not contain proper training, validation, or testing data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Each session had different timestamp lengths, creating inconsistency in sequence dimensions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To standardize the data, </a:t>
            </a:r>
            <a:r>
              <a:rPr b="1" lang="en-US" sz="1100">
                <a:solidFill>
                  <a:schemeClr val="dk1"/>
                </a:solidFill>
              </a:rPr>
              <a:t>zero padding</a:t>
            </a:r>
            <a:r>
              <a:rPr lang="en-US" sz="1100">
                <a:solidFill>
                  <a:schemeClr val="dk1"/>
                </a:solidFill>
              </a:rPr>
              <a:t> was applied so all samples matched the longest timestamp sequence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After preprocessing, all sessions were concatenated into complete datasets for:</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Training</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Validation</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Testing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Final dataset split ratio used was </a:t>
            </a:r>
            <a:r>
              <a:rPr b="1" lang="en-US" sz="1100">
                <a:solidFill>
                  <a:schemeClr val="dk1"/>
                </a:solidFill>
              </a:rPr>
              <a:t>8:1:1</a:t>
            </a:r>
            <a:r>
              <a:rPr lang="en-US" sz="1100">
                <a:solidFill>
                  <a:schemeClr val="dk1"/>
                </a:solidFill>
              </a:rPr>
              <a:t> for Train, Validation, and Test sets respectively</a:t>
            </a:r>
            <a:endParaRPr sz="3200">
              <a:solidFill>
                <a:schemeClr val="dk1"/>
              </a:solidFill>
              <a:latin typeface="Calibri"/>
              <a:ea typeface="Calibri"/>
              <a:cs typeface="Calibri"/>
              <a:sym typeface="Calibri"/>
            </a:endParaRPr>
          </a:p>
        </p:txBody>
      </p:sp>
      <p:pic>
        <p:nvPicPr>
          <p:cNvPr id="145" name="Google Shape;145;p20" title="Screenshot 2026-05-20 at 8.34.39 AM.png"/>
          <p:cNvPicPr preferRelativeResize="0"/>
          <p:nvPr/>
        </p:nvPicPr>
        <p:blipFill>
          <a:blip r:embed="rId4">
            <a:alphaModFix/>
          </a:blip>
          <a:stretch>
            <a:fillRect/>
          </a:stretch>
        </p:blipFill>
        <p:spPr>
          <a:xfrm>
            <a:off x="8065450" y="2058200"/>
            <a:ext cx="4055776" cy="2191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1981200" y="67468"/>
            <a:ext cx="8229600" cy="716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632423"/>
              </a:buClr>
              <a:buSzPts val="3600"/>
              <a:buFont typeface="Times New Roman"/>
              <a:buNone/>
            </a:pPr>
            <a:r>
              <a:rPr b="1" lang="en-US" sz="3600">
                <a:solidFill>
                  <a:srgbClr val="632423"/>
                </a:solidFill>
                <a:latin typeface="Times New Roman"/>
                <a:ea typeface="Times New Roman"/>
                <a:cs typeface="Times New Roman"/>
                <a:sym typeface="Times New Roman"/>
              </a:rPr>
              <a:t>Methodology</a:t>
            </a:r>
            <a:endParaRPr/>
          </a:p>
        </p:txBody>
      </p:sp>
      <p:pic>
        <p:nvPicPr>
          <p:cNvPr id="151" name="Google Shape;151;p21"/>
          <p:cNvPicPr preferRelativeResize="0"/>
          <p:nvPr/>
        </p:nvPicPr>
        <p:blipFill rotWithShape="1">
          <a:blip r:embed="rId3">
            <a:alphaModFix/>
          </a:blip>
          <a:srcRect b="0" l="0" r="0" t="0"/>
          <a:stretch/>
        </p:blipFill>
        <p:spPr>
          <a:xfrm>
            <a:off x="152400" y="49694"/>
            <a:ext cx="1344125" cy="1165850"/>
          </a:xfrm>
          <a:prstGeom prst="rect">
            <a:avLst/>
          </a:prstGeom>
          <a:noFill/>
          <a:ln>
            <a:noFill/>
          </a:ln>
        </p:spPr>
      </p:pic>
      <p:sp>
        <p:nvSpPr>
          <p:cNvPr id="152" name="Google Shape;152;p21"/>
          <p:cNvSpPr txBox="1"/>
          <p:nvPr/>
        </p:nvSpPr>
        <p:spPr>
          <a:xfrm>
            <a:off x="1496525" y="930500"/>
            <a:ext cx="6535500" cy="214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P</a:t>
            </a:r>
            <a:r>
              <a:rPr b="1" lang="en-US">
                <a:solidFill>
                  <a:schemeClr val="dk1"/>
                </a:solidFill>
              </a:rPr>
              <a:t>hase 1 — Data Ingestion &amp; Preprocessing</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Collected neural/brain signal data from the dataset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Performed data cleaning and preprocessing to remove noise and prepare signals for training</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Converted the processed data into a model-ready format for deep learning pipelines</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a:solidFill>
                  <a:schemeClr val="dk1"/>
                </a:solidFill>
              </a:rPr>
              <a:t>Phase 2 — Model Training &amp; Evaluation</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Trained </a:t>
            </a:r>
            <a:r>
              <a:rPr b="1" lang="en-US" sz="1200">
                <a:solidFill>
                  <a:schemeClr val="dk1"/>
                </a:solidFill>
              </a:rPr>
              <a:t>8 different models</a:t>
            </a:r>
            <a:r>
              <a:rPr lang="en-US" sz="1200">
                <a:solidFill>
                  <a:schemeClr val="dk1"/>
                </a:solidFill>
              </a:rPr>
              <a:t> using </a:t>
            </a:r>
            <a:r>
              <a:rPr b="1" lang="en-US" sz="1200">
                <a:solidFill>
                  <a:schemeClr val="dk1"/>
                </a:solidFill>
              </a:rPr>
              <a:t>4 neural network architectures</a:t>
            </a:r>
            <a:r>
              <a:rPr lang="en-US" sz="1200">
                <a:solidFill>
                  <a:schemeClr val="dk1"/>
                </a:solidFill>
              </a:rPr>
              <a:t>:</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RNN</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LSTM</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GRU</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Transformer</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Each architecture was tested in two modes: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Pretrained</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Trained from Scratch</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Evaluated models using performance metrics such as Phoneme Error Rate (PER) and Validation Loss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Saved the best-performing trained models as </a:t>
            </a:r>
            <a:r>
              <a:rPr lang="en-US" sz="1200">
                <a:solidFill>
                  <a:srgbClr val="188038"/>
                </a:solidFill>
                <a:latin typeface="Roboto Mono"/>
                <a:ea typeface="Roboto Mono"/>
                <a:cs typeface="Roboto Mono"/>
                <a:sym typeface="Roboto Mono"/>
              </a:rPr>
              <a:t>.pth</a:t>
            </a:r>
            <a:r>
              <a:rPr lang="en-US" sz="1200">
                <a:solidFill>
                  <a:schemeClr val="dk1"/>
                </a:solidFill>
              </a:rPr>
              <a:t> files for inference and deployment</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a:solidFill>
                  <a:schemeClr val="dk1"/>
                </a:solidFill>
              </a:rPr>
              <a:t>Phase 3 — Real-Time Inference System</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Developed a Flask API backend for real-time prediction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Users upload neural data through the web dashboard/interface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The uploaded data is sent to backend API endpoints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Backend loads the trained </a:t>
            </a:r>
            <a:r>
              <a:rPr lang="en-US" sz="1200">
                <a:solidFill>
                  <a:srgbClr val="188038"/>
                </a:solidFill>
                <a:latin typeface="Roboto Mono"/>
                <a:ea typeface="Roboto Mono"/>
                <a:cs typeface="Roboto Mono"/>
                <a:sym typeface="Roboto Mono"/>
              </a:rPr>
              <a:t>.pth</a:t>
            </a:r>
            <a:r>
              <a:rPr lang="en-US" sz="1200">
                <a:solidFill>
                  <a:schemeClr val="dk1"/>
                </a:solidFill>
              </a:rPr>
              <a:t> models and performs inference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Final decoded text output is generated and displayed to the user in real time</a:t>
            </a:r>
            <a:endParaRPr sz="1200">
              <a:solidFill>
                <a:schemeClr val="dk1"/>
              </a:solidFill>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1981200" y="67468"/>
            <a:ext cx="8229600" cy="716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632423"/>
              </a:buClr>
              <a:buSzPts val="3600"/>
              <a:buFont typeface="Times New Roman"/>
              <a:buNone/>
            </a:pPr>
            <a:r>
              <a:rPr b="1" lang="en-US" sz="3600">
                <a:solidFill>
                  <a:srgbClr val="632423"/>
                </a:solidFill>
                <a:latin typeface="Times New Roman"/>
                <a:ea typeface="Times New Roman"/>
                <a:cs typeface="Times New Roman"/>
                <a:sym typeface="Times New Roman"/>
              </a:rPr>
              <a:t>Flow Diagram</a:t>
            </a:r>
            <a:endParaRPr/>
          </a:p>
        </p:txBody>
      </p:sp>
      <p:pic>
        <p:nvPicPr>
          <p:cNvPr id="158" name="Google Shape;158;p22"/>
          <p:cNvPicPr preferRelativeResize="0"/>
          <p:nvPr/>
        </p:nvPicPr>
        <p:blipFill rotWithShape="1">
          <a:blip r:embed="rId3">
            <a:alphaModFix/>
          </a:blip>
          <a:srcRect b="0" l="0" r="0" t="0"/>
          <a:stretch/>
        </p:blipFill>
        <p:spPr>
          <a:xfrm>
            <a:off x="152400" y="49694"/>
            <a:ext cx="1344125" cy="1165850"/>
          </a:xfrm>
          <a:prstGeom prst="rect">
            <a:avLst/>
          </a:prstGeom>
          <a:noFill/>
          <a:ln>
            <a:noFill/>
          </a:ln>
        </p:spPr>
      </p:pic>
      <p:pic>
        <p:nvPicPr>
          <p:cNvPr id="159" name="Google Shape;159;p22" title="ChatGPT Image May 20, 2026, 01_07_52 AM.png"/>
          <p:cNvPicPr preferRelativeResize="0"/>
          <p:nvPr/>
        </p:nvPicPr>
        <p:blipFill>
          <a:blip r:embed="rId4">
            <a:alphaModFix/>
          </a:blip>
          <a:stretch>
            <a:fillRect/>
          </a:stretch>
        </p:blipFill>
        <p:spPr>
          <a:xfrm>
            <a:off x="1657281" y="944323"/>
            <a:ext cx="8654446" cy="57696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p:nvPr/>
        </p:nvSpPr>
        <p:spPr>
          <a:xfrm>
            <a:off x="1981190" y="192305"/>
            <a:ext cx="82296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rgbClr val="0D1B2A"/>
                </a:solidFill>
                <a:latin typeface="Calibri"/>
                <a:ea typeface="Calibri"/>
                <a:cs typeface="Calibri"/>
                <a:sym typeface="Calibri"/>
              </a:rPr>
              <a:t>Model Evaluation Results</a:t>
            </a:r>
            <a:endParaRPr b="1" sz="4000">
              <a:solidFill>
                <a:schemeClr val="dk1"/>
              </a:solidFill>
              <a:latin typeface="Calibri"/>
              <a:ea typeface="Calibri"/>
              <a:cs typeface="Calibri"/>
              <a:sym typeface="Calibri"/>
            </a:endParaRPr>
          </a:p>
        </p:txBody>
      </p:sp>
      <p:pic>
        <p:nvPicPr>
          <p:cNvPr id="166" name="Google Shape;166;p23"/>
          <p:cNvPicPr preferRelativeResize="0"/>
          <p:nvPr/>
        </p:nvPicPr>
        <p:blipFill rotWithShape="1">
          <a:blip r:embed="rId3">
            <a:alphaModFix/>
          </a:blip>
          <a:srcRect b="0" l="0" r="0" t="0"/>
          <a:stretch/>
        </p:blipFill>
        <p:spPr>
          <a:xfrm>
            <a:off x="152399" y="76199"/>
            <a:ext cx="1066801" cy="924561"/>
          </a:xfrm>
          <a:prstGeom prst="rect">
            <a:avLst/>
          </a:prstGeom>
          <a:noFill/>
          <a:ln>
            <a:noFill/>
          </a:ln>
        </p:spPr>
      </p:pic>
      <p:sp>
        <p:nvSpPr>
          <p:cNvPr id="167" name="Google Shape;167;p23"/>
          <p:cNvSpPr txBox="1"/>
          <p:nvPr/>
        </p:nvSpPr>
        <p:spPr>
          <a:xfrm>
            <a:off x="3591974" y="6262307"/>
            <a:ext cx="555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Phoneme</a:t>
            </a:r>
            <a:r>
              <a:rPr b="1" lang="en-US" sz="1800">
                <a:solidFill>
                  <a:schemeClr val="dk1"/>
                </a:solidFill>
                <a:latin typeface="Calibri"/>
                <a:ea typeface="Calibri"/>
                <a:cs typeface="Calibri"/>
                <a:sym typeface="Calibri"/>
              </a:rPr>
              <a:t> Error Rate Comparison of different models</a:t>
            </a:r>
            <a:endParaRPr b="1" sz="1800">
              <a:solidFill>
                <a:schemeClr val="dk1"/>
              </a:solidFill>
              <a:latin typeface="Calibri"/>
              <a:ea typeface="Calibri"/>
              <a:cs typeface="Calibri"/>
              <a:sym typeface="Calibri"/>
            </a:endParaRPr>
          </a:p>
        </p:txBody>
      </p:sp>
      <p:pic>
        <p:nvPicPr>
          <p:cNvPr id="168" name="Google Shape;168;p23" title="model_per_bargraph.png"/>
          <p:cNvPicPr preferRelativeResize="0"/>
          <p:nvPr/>
        </p:nvPicPr>
        <p:blipFill>
          <a:blip r:embed="rId4">
            <a:alphaModFix/>
          </a:blip>
          <a:stretch>
            <a:fillRect/>
          </a:stretch>
        </p:blipFill>
        <p:spPr>
          <a:xfrm>
            <a:off x="1510912" y="928037"/>
            <a:ext cx="9170175" cy="50019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p:nvPr/>
        </p:nvSpPr>
        <p:spPr>
          <a:xfrm>
            <a:off x="1981190" y="192305"/>
            <a:ext cx="82296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rgbClr val="0D1B2A"/>
                </a:solidFill>
                <a:latin typeface="Calibri"/>
                <a:ea typeface="Calibri"/>
                <a:cs typeface="Calibri"/>
                <a:sym typeface="Calibri"/>
              </a:rPr>
              <a:t>Results and Discussion</a:t>
            </a:r>
            <a:endParaRPr b="1" sz="4000">
              <a:solidFill>
                <a:schemeClr val="dk1"/>
              </a:solidFill>
              <a:latin typeface="Calibri"/>
              <a:ea typeface="Calibri"/>
              <a:cs typeface="Calibri"/>
              <a:sym typeface="Calibri"/>
            </a:endParaRPr>
          </a:p>
        </p:txBody>
      </p:sp>
      <p:pic>
        <p:nvPicPr>
          <p:cNvPr id="175" name="Google Shape;175;p24"/>
          <p:cNvPicPr preferRelativeResize="0"/>
          <p:nvPr/>
        </p:nvPicPr>
        <p:blipFill rotWithShape="1">
          <a:blip r:embed="rId3">
            <a:alphaModFix/>
          </a:blip>
          <a:srcRect b="0" l="0" r="0" t="0"/>
          <a:stretch/>
        </p:blipFill>
        <p:spPr>
          <a:xfrm>
            <a:off x="152399" y="76199"/>
            <a:ext cx="1066801" cy="924561"/>
          </a:xfrm>
          <a:prstGeom prst="rect">
            <a:avLst/>
          </a:prstGeom>
          <a:noFill/>
          <a:ln>
            <a:noFill/>
          </a:ln>
        </p:spPr>
      </p:pic>
      <p:sp>
        <p:nvSpPr>
          <p:cNvPr id="176" name="Google Shape;176;p24"/>
          <p:cNvSpPr txBox="1"/>
          <p:nvPr/>
        </p:nvSpPr>
        <p:spPr>
          <a:xfrm>
            <a:off x="861900" y="1150550"/>
            <a:ext cx="10468200" cy="4890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200"/>
              </a:spcBef>
              <a:spcAft>
                <a:spcPts val="0"/>
              </a:spcAft>
              <a:buClr>
                <a:schemeClr val="dk1"/>
              </a:buClr>
              <a:buSzPts val="1800"/>
              <a:buChar char="●"/>
            </a:pPr>
            <a:r>
              <a:rPr b="1" lang="en-US" sz="1800">
                <a:solidFill>
                  <a:schemeClr val="dk1"/>
                </a:solidFill>
                <a:latin typeface="Times New Roman"/>
                <a:ea typeface="Times New Roman"/>
                <a:cs typeface="Times New Roman"/>
                <a:sym typeface="Times New Roman"/>
              </a:rPr>
              <a:t>Word Error Rate (WER)</a:t>
            </a:r>
            <a:r>
              <a:rPr lang="en-US" sz="1800">
                <a:solidFill>
                  <a:schemeClr val="dk1"/>
                </a:solidFill>
                <a:latin typeface="Times New Roman"/>
                <a:ea typeface="Times New Roman"/>
                <a:cs typeface="Times New Roman"/>
                <a:sym typeface="Times New Roman"/>
              </a:rPr>
              <a:t> measures how many words are predicted incorrectly out of 100 words. Lower WER indicates better speech-to-text performance</a:t>
            </a:r>
            <a:endParaRPr sz="18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Our model achieved a </a:t>
            </a:r>
            <a:r>
              <a:rPr b="1" lang="en-US" sz="1800">
                <a:solidFill>
                  <a:schemeClr val="dk1"/>
                </a:solidFill>
                <a:latin typeface="Times New Roman"/>
                <a:ea typeface="Times New Roman"/>
                <a:cs typeface="Times New Roman"/>
                <a:sym typeface="Times New Roman"/>
              </a:rPr>
              <a:t>WER of 4.68%</a:t>
            </a:r>
            <a:r>
              <a:rPr lang="en-US" sz="1800">
                <a:solidFill>
                  <a:schemeClr val="dk1"/>
                </a:solidFill>
                <a:latin typeface="Times New Roman"/>
                <a:ea typeface="Times New Roman"/>
                <a:cs typeface="Times New Roman"/>
                <a:sym typeface="Times New Roman"/>
              </a:rPr>
              <a:t>, meaning only around 5 words out of every 100 were predicted incorrectly.</a:t>
            </a:r>
            <a:endParaRPr sz="18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We used WER because it is the industry-standard evaluation metric for speech-to-text systems and is widely used by major companies such as</a:t>
            </a:r>
            <a:r>
              <a:rPr lang="en-US" sz="180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 </a:t>
            </a:r>
            <a:r>
              <a:rPr lang="en-US" sz="1800" u="sng">
                <a:solidFill>
                  <a:schemeClr val="hlink"/>
                </a:solidFill>
                <a:latin typeface="Times New Roman"/>
                <a:ea typeface="Times New Roman"/>
                <a:cs typeface="Times New Roman"/>
                <a:sym typeface="Times New Roman"/>
                <a:hlinkClick r:id="rId5"/>
              </a:rPr>
              <a:t>Google</a:t>
            </a:r>
            <a:r>
              <a:rPr lang="en-US" sz="1800">
                <a:solidFill>
                  <a:schemeClr val="dk1"/>
                </a:solidFill>
                <a:latin typeface="Times New Roman"/>
                <a:ea typeface="Times New Roman"/>
                <a:cs typeface="Times New Roman"/>
                <a:sym typeface="Times New Roman"/>
              </a:rPr>
              <a:t> and</a:t>
            </a:r>
            <a:r>
              <a:rPr lang="en-US" sz="1800">
                <a:solidFill>
                  <a:schemeClr val="dk1"/>
                </a:solidFill>
                <a:uFill>
                  <a:noFill/>
                </a:uFill>
                <a:latin typeface="Times New Roman"/>
                <a:ea typeface="Times New Roman"/>
                <a:cs typeface="Times New Roman"/>
                <a:sym typeface="Times New Roman"/>
                <a:hlinkClick r:id="rId6">
                  <a:extLst>
                    <a:ext uri="{A12FA001-AC4F-418D-AE19-62706E023703}">
                      <ahyp:hlinkClr val="tx"/>
                    </a:ext>
                  </a:extLst>
                </a:hlinkClick>
              </a:rPr>
              <a:t> </a:t>
            </a:r>
            <a:r>
              <a:rPr lang="en-US" sz="1800" u="sng">
                <a:solidFill>
                  <a:schemeClr val="hlink"/>
                </a:solidFill>
                <a:latin typeface="Times New Roman"/>
                <a:ea typeface="Times New Roman"/>
                <a:cs typeface="Times New Roman"/>
                <a:sym typeface="Times New Roman"/>
                <a:hlinkClick r:id="rId7"/>
              </a:rPr>
              <a:t>Amazon Lex</a:t>
            </a:r>
            <a:r>
              <a:rPr lang="en-US" sz="1800">
                <a:solidFill>
                  <a:schemeClr val="dk1"/>
                </a:solidFill>
                <a:latin typeface="Times New Roman"/>
                <a:ea typeface="Times New Roman"/>
                <a:cs typeface="Times New Roman"/>
                <a:sym typeface="Times New Roman"/>
              </a:rPr>
              <a:t>, as well as in most published research papers.</a:t>
            </a:r>
            <a:endParaRPr sz="18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Using WER also allows fair comparison with existing published literature, since almost all state-of-the-art speech and brain-to-text research evaluates performance using the same metric.</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p:nvPr/>
        </p:nvSpPr>
        <p:spPr>
          <a:xfrm>
            <a:off x="983778" y="210415"/>
            <a:ext cx="10369385"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rgbClr val="0C0C0C"/>
                </a:solidFill>
                <a:latin typeface="Calibri"/>
                <a:ea typeface="Calibri"/>
                <a:cs typeface="Calibri"/>
                <a:sym typeface="Calibri"/>
              </a:rPr>
              <a:t>Conclusion</a:t>
            </a:r>
            <a:endParaRPr sz="4000">
              <a:solidFill>
                <a:srgbClr val="0C0C0C"/>
              </a:solidFill>
              <a:latin typeface="Calibri"/>
              <a:ea typeface="Calibri"/>
              <a:cs typeface="Calibri"/>
              <a:sym typeface="Calibri"/>
            </a:endParaRPr>
          </a:p>
        </p:txBody>
      </p:sp>
      <p:pic>
        <p:nvPicPr>
          <p:cNvPr id="183" name="Google Shape;183;p25"/>
          <p:cNvPicPr preferRelativeResize="0"/>
          <p:nvPr/>
        </p:nvPicPr>
        <p:blipFill rotWithShape="1">
          <a:blip r:embed="rId3">
            <a:alphaModFix/>
          </a:blip>
          <a:srcRect b="0" l="0" r="0" t="0"/>
          <a:stretch/>
        </p:blipFill>
        <p:spPr>
          <a:xfrm>
            <a:off x="18011" y="76200"/>
            <a:ext cx="967154" cy="838200"/>
          </a:xfrm>
          <a:prstGeom prst="rect">
            <a:avLst/>
          </a:prstGeom>
          <a:noFill/>
          <a:ln>
            <a:noFill/>
          </a:ln>
        </p:spPr>
      </p:pic>
      <p:sp>
        <p:nvSpPr>
          <p:cNvPr id="184" name="Google Shape;184;p25"/>
          <p:cNvSpPr txBox="1"/>
          <p:nvPr/>
        </p:nvSpPr>
        <p:spPr>
          <a:xfrm>
            <a:off x="983800" y="1159975"/>
            <a:ext cx="10369500" cy="2678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Successfully decoded imagined speech from brain signals into readable text using deep learning.</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Among all tested architectures, the </a:t>
            </a:r>
            <a:r>
              <a:rPr b="1" lang="en-US" sz="1800">
                <a:solidFill>
                  <a:schemeClr val="dk1"/>
                </a:solidFill>
                <a:latin typeface="Times New Roman"/>
                <a:ea typeface="Times New Roman"/>
                <a:cs typeface="Times New Roman"/>
                <a:sym typeface="Times New Roman"/>
              </a:rPr>
              <a:t>GRU model with pretrained weights</a:t>
            </a:r>
            <a:r>
              <a:rPr lang="en-US" sz="1800">
                <a:solidFill>
                  <a:schemeClr val="dk1"/>
                </a:solidFill>
                <a:latin typeface="Times New Roman"/>
                <a:ea typeface="Times New Roman"/>
                <a:cs typeface="Times New Roman"/>
                <a:sym typeface="Times New Roman"/>
              </a:rPr>
              <a:t> achieved the best performance with a </a:t>
            </a:r>
            <a:r>
              <a:rPr b="1" lang="en-US" sz="1800">
                <a:solidFill>
                  <a:schemeClr val="dk1"/>
                </a:solidFill>
                <a:latin typeface="Times New Roman"/>
                <a:ea typeface="Times New Roman"/>
                <a:cs typeface="Times New Roman"/>
                <a:sym typeface="Times New Roman"/>
              </a:rPr>
              <a:t>4.68% WER</a:t>
            </a:r>
            <a:r>
              <a:rPr lang="en-US"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model outperformed simpler RNNs and more complex Transformer-based approaches on limited neural data.</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Achieved performance comparable to or better than several existing speech-to-text and brain-to-text benchmarks, including human-level transcription accuracy.</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Demonstrated a complete end-to-end brain-to-text pipeline, showing strong potential for assisting individuals with speech </a:t>
            </a:r>
            <a:r>
              <a:rPr lang="en-US" sz="1800">
                <a:solidFill>
                  <a:schemeClr val="dk1"/>
                </a:solidFill>
                <a:latin typeface="Times New Roman"/>
                <a:ea typeface="Times New Roman"/>
                <a:cs typeface="Times New Roman"/>
                <a:sym typeface="Times New Roman"/>
              </a:rPr>
              <a:t>disabilities.</a:t>
            </a:r>
            <a:endParaRPr sz="1800">
              <a:solidFill>
                <a:schemeClr val="dk1"/>
              </a:solidFill>
              <a:latin typeface="Times New Roman"/>
              <a:ea typeface="Times New Roman"/>
              <a:cs typeface="Times New Roman"/>
              <a:sym typeface="Times New Roman"/>
            </a:endParaRPr>
          </a:p>
        </p:txBody>
      </p:sp>
      <p:pic>
        <p:nvPicPr>
          <p:cNvPr id="185" name="Google Shape;185;p25"/>
          <p:cNvPicPr preferRelativeResize="0"/>
          <p:nvPr/>
        </p:nvPicPr>
        <p:blipFill>
          <a:blip r:embed="rId4">
            <a:alphaModFix/>
          </a:blip>
          <a:stretch>
            <a:fillRect/>
          </a:stretch>
        </p:blipFill>
        <p:spPr>
          <a:xfrm>
            <a:off x="3593962" y="3946600"/>
            <a:ext cx="5149175" cy="2824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6"/>
          <p:cNvSpPr txBox="1"/>
          <p:nvPr>
            <p:ph type="title"/>
          </p:nvPr>
        </p:nvSpPr>
        <p:spPr>
          <a:xfrm>
            <a:off x="609600" y="274638"/>
            <a:ext cx="109728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92" name="Google Shape;192;p26"/>
          <p:cNvSpPr txBox="1"/>
          <p:nvPr>
            <p:ph idx="1" type="body"/>
          </p:nvPr>
        </p:nvSpPr>
        <p:spPr>
          <a:xfrm>
            <a:off x="609600" y="1600201"/>
            <a:ext cx="109728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193" name="Google Shape;193;p26"/>
          <p:cNvPicPr preferRelativeResize="0"/>
          <p:nvPr/>
        </p:nvPicPr>
        <p:blipFill>
          <a:blip r:embed="rId3">
            <a:alphaModFix/>
          </a:blip>
          <a:stretch>
            <a:fillRect/>
          </a:stretch>
        </p:blipFill>
        <p:spPr>
          <a:xfrm>
            <a:off x="0" y="0"/>
            <a:ext cx="11885425" cy="68579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7"/>
          <p:cNvSpPr txBox="1"/>
          <p:nvPr>
            <p:ph type="title"/>
          </p:nvPr>
        </p:nvSpPr>
        <p:spPr>
          <a:xfrm>
            <a:off x="1034844" y="76200"/>
            <a:ext cx="10547555"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632423"/>
              </a:buClr>
              <a:buSzPts val="2800"/>
              <a:buFont typeface="Times New Roman"/>
              <a:buNone/>
            </a:pPr>
            <a:r>
              <a:rPr b="1" lang="en-US" sz="2800">
                <a:solidFill>
                  <a:srgbClr val="632423"/>
                </a:solidFill>
                <a:latin typeface="Times New Roman"/>
                <a:ea typeface="Times New Roman"/>
                <a:cs typeface="Times New Roman"/>
                <a:sym typeface="Times New Roman"/>
              </a:rPr>
              <a:t>Project Outcome</a:t>
            </a:r>
            <a:endParaRPr/>
          </a:p>
        </p:txBody>
      </p:sp>
      <p:sp>
        <p:nvSpPr>
          <p:cNvPr id="199" name="Google Shape;199;p27"/>
          <p:cNvSpPr txBox="1"/>
          <p:nvPr>
            <p:ph idx="1" type="body"/>
          </p:nvPr>
        </p:nvSpPr>
        <p:spPr>
          <a:xfrm>
            <a:off x="305550" y="1219197"/>
            <a:ext cx="11734800" cy="59157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800"/>
              <a:buNone/>
            </a:pPr>
            <a:r>
              <a:rPr b="1" lang="en-US" sz="1800">
                <a:latin typeface="Times New Roman"/>
                <a:ea typeface="Times New Roman"/>
                <a:cs typeface="Times New Roman"/>
                <a:sym typeface="Times New Roman"/>
              </a:rPr>
              <a:t>We Have Submitted a Research Paper Based on This Project at IRIJET</a:t>
            </a:r>
            <a:endParaRPr/>
          </a:p>
          <a:p>
            <a:pPr indent="0" lvl="0" marL="0" rtl="0" algn="l">
              <a:lnSpc>
                <a:spcPct val="115000"/>
              </a:lnSpc>
              <a:spcBef>
                <a:spcPts val="0"/>
              </a:spcBef>
              <a:spcAft>
                <a:spcPts val="0"/>
              </a:spcAft>
              <a:buClr>
                <a:schemeClr val="dk1"/>
              </a:buClr>
              <a:buSzPts val="1100"/>
              <a:buFont typeface="Arial"/>
              <a:buNone/>
            </a:pPr>
            <a:r>
              <a:rPr i="1" lang="en-US" sz="1800">
                <a:latin typeface="Times New Roman"/>
                <a:ea typeface="Times New Roman"/>
                <a:cs typeface="Times New Roman"/>
                <a:sym typeface="Times New Roman"/>
              </a:rPr>
              <a:t>Brain2Text: A Reproducible, CPU-Deployable Framework for Neural Speech Decoding with Browser-Accessible Inference</a:t>
            </a:r>
            <a:endParaRPr i="1" sz="1800">
              <a:latin typeface="Times New Roman"/>
              <a:ea typeface="Times New Roman"/>
              <a:cs typeface="Times New Roman"/>
              <a:sym typeface="Times New Roman"/>
            </a:endParaRPr>
          </a:p>
          <a:p>
            <a:pPr indent="0" lvl="0" marL="0" rtl="0" algn="l">
              <a:lnSpc>
                <a:spcPct val="150000"/>
              </a:lnSpc>
              <a:spcBef>
                <a:spcPts val="440"/>
              </a:spcBef>
              <a:spcAft>
                <a:spcPts val="0"/>
              </a:spcAft>
              <a:buClr>
                <a:schemeClr val="dk1"/>
              </a:buClr>
              <a:buSzPts val="1800"/>
              <a:buNone/>
            </a:pPr>
            <a:r>
              <a:rPr i="1" lang="en-US" sz="1800">
                <a:solidFill>
                  <a:schemeClr val="accent1"/>
                </a:solidFill>
                <a:latin typeface="Times New Roman"/>
                <a:ea typeface="Times New Roman"/>
                <a:cs typeface="Times New Roman"/>
                <a:sym typeface="Times New Roman"/>
              </a:rPr>
              <a:t>UNDER REVIEW  </a:t>
            </a:r>
            <a:r>
              <a:rPr lang="en-US" sz="1100">
                <a:solidFill>
                  <a:srgbClr val="4A86E8"/>
                </a:solidFill>
                <a:latin typeface="Arial"/>
                <a:ea typeface="Arial"/>
                <a:cs typeface="Arial"/>
                <a:sym typeface="Arial"/>
              </a:rPr>
              <a:t>https://drive.google.com/drive/folders/1msObycNHTl3uLcKsOTvhjlVXWxcPzith?usp=sharing</a:t>
            </a:r>
            <a:endParaRPr i="1" sz="1800">
              <a:solidFill>
                <a:schemeClr val="accent1"/>
              </a:solidFill>
              <a:latin typeface="Times New Roman"/>
              <a:ea typeface="Times New Roman"/>
              <a:cs typeface="Times New Roman"/>
              <a:sym typeface="Times New Roman"/>
            </a:endParaRPr>
          </a:p>
          <a:p>
            <a:pPr indent="-457200" lvl="0" marL="457200" rtl="0" algn="l">
              <a:lnSpc>
                <a:spcPct val="150000"/>
              </a:lnSpc>
              <a:spcBef>
                <a:spcPts val="510"/>
              </a:spcBef>
              <a:spcAft>
                <a:spcPts val="0"/>
              </a:spcAft>
              <a:buClr>
                <a:schemeClr val="dk1"/>
              </a:buClr>
              <a:buSzPts val="1800"/>
              <a:buChar char="•"/>
            </a:pPr>
            <a:r>
              <a:rPr lang="en-US" sz="1800">
                <a:latin typeface="Times New Roman"/>
                <a:ea typeface="Times New Roman"/>
                <a:cs typeface="Times New Roman"/>
                <a:sym typeface="Times New Roman"/>
              </a:rPr>
              <a:t>Authors: Sidheshwar Sharma, Ayush Chougule, Uday Tomar</a:t>
            </a:r>
            <a:endParaRPr sz="1800">
              <a:latin typeface="Times New Roman"/>
              <a:ea typeface="Times New Roman"/>
              <a:cs typeface="Times New Roman"/>
              <a:sym typeface="Times New Roman"/>
            </a:endParaRPr>
          </a:p>
          <a:p>
            <a:pPr indent="0" lvl="0" marL="0" rtl="0" algn="l">
              <a:lnSpc>
                <a:spcPct val="150000"/>
              </a:lnSpc>
              <a:spcBef>
                <a:spcPts val="510"/>
              </a:spcBef>
              <a:spcAft>
                <a:spcPts val="0"/>
              </a:spcAft>
              <a:buNone/>
            </a:pPr>
            <a:r>
              <a:t/>
            </a:r>
            <a:endParaRPr sz="1800">
              <a:latin typeface="Times New Roman"/>
              <a:ea typeface="Times New Roman"/>
              <a:cs typeface="Times New Roman"/>
              <a:sym typeface="Times New Roman"/>
            </a:endParaRPr>
          </a:p>
          <a:p>
            <a:pPr indent="0" lvl="0" marL="0" rtl="0" algn="l">
              <a:lnSpc>
                <a:spcPct val="150000"/>
              </a:lnSpc>
              <a:spcBef>
                <a:spcPts val="510"/>
              </a:spcBef>
              <a:spcAft>
                <a:spcPts val="0"/>
              </a:spcAft>
              <a:buClr>
                <a:schemeClr val="dk1"/>
              </a:buClr>
              <a:buSzPts val="1800"/>
              <a:buNone/>
            </a:pPr>
            <a:r>
              <a:rPr b="1" lang="en-US" sz="1800">
                <a:latin typeface="Times New Roman"/>
                <a:ea typeface="Times New Roman"/>
                <a:cs typeface="Times New Roman"/>
                <a:sym typeface="Times New Roman"/>
              </a:rPr>
              <a:t>Key Contributions Highlighted in the Paper</a:t>
            </a:r>
            <a:endParaRPr/>
          </a:p>
          <a:p>
            <a:pPr indent="-330200" lvl="0" marL="342900" rtl="0" algn="l">
              <a:lnSpc>
                <a:spcPct val="150000"/>
              </a:lnSpc>
              <a:spcBef>
                <a:spcPts val="470"/>
              </a:spcBef>
              <a:spcAft>
                <a:spcPts val="0"/>
              </a:spcAft>
              <a:buSzPts val="1600"/>
              <a:buChar char="•"/>
            </a:pPr>
            <a:r>
              <a:rPr lang="en-US" sz="1600">
                <a:latin typeface="Times New Roman"/>
                <a:ea typeface="Times New Roman"/>
                <a:cs typeface="Times New Roman"/>
                <a:sym typeface="Times New Roman"/>
              </a:rPr>
              <a:t>We developed this research project to create a more practical and real-time Brain-to-Text system, since most existing papers mainly focus on research experiments rather than usable inference models.</a:t>
            </a:r>
            <a:endParaRPr sz="1600">
              <a:latin typeface="Times New Roman"/>
              <a:ea typeface="Times New Roman"/>
              <a:cs typeface="Times New Roman"/>
              <a:sym typeface="Times New Roman"/>
            </a:endParaRPr>
          </a:p>
          <a:p>
            <a:pPr indent="-330200" lvl="0" marL="342900" rtl="0" algn="l">
              <a:lnSpc>
                <a:spcPct val="150000"/>
              </a:lnSpc>
              <a:spcBef>
                <a:spcPts val="470"/>
              </a:spcBef>
              <a:spcAft>
                <a:spcPts val="0"/>
              </a:spcAft>
              <a:buSzPts val="1600"/>
              <a:buChar char="•"/>
            </a:pPr>
            <a:r>
              <a:rPr lang="en-US" sz="1600">
                <a:latin typeface="Times New Roman"/>
                <a:ea typeface="Times New Roman"/>
                <a:cs typeface="Times New Roman"/>
                <a:sym typeface="Times New Roman"/>
              </a:rPr>
              <a:t>We integrated a fallback LLM mechanism to improve text generation and handle uncertain predictions more effectively during decoding.</a:t>
            </a:r>
            <a:endParaRPr sz="1600">
              <a:latin typeface="Times New Roman"/>
              <a:ea typeface="Times New Roman"/>
              <a:cs typeface="Times New Roman"/>
              <a:sym typeface="Times New Roman"/>
            </a:endParaRPr>
          </a:p>
          <a:p>
            <a:pPr indent="-330200" lvl="0" marL="342900" rtl="0" algn="l">
              <a:lnSpc>
                <a:spcPct val="150000"/>
              </a:lnSpc>
              <a:spcBef>
                <a:spcPts val="470"/>
              </a:spcBef>
              <a:spcAft>
                <a:spcPts val="0"/>
              </a:spcAft>
              <a:buSzPts val="1600"/>
              <a:buChar char="•"/>
            </a:pPr>
            <a:r>
              <a:rPr lang="en-US" sz="1600">
                <a:latin typeface="Times New Roman"/>
                <a:ea typeface="Times New Roman"/>
                <a:cs typeface="Times New Roman"/>
                <a:sym typeface="Times New Roman"/>
              </a:rPr>
              <a:t>Our goal was to build an end-to-end pipeline capable of processing real-time neural data and generating meaningful text outputs, which is still li</a:t>
            </a:r>
            <a:r>
              <a:rPr lang="en-US" sz="1600">
                <a:latin typeface="Times New Roman"/>
                <a:ea typeface="Times New Roman"/>
                <a:cs typeface="Times New Roman"/>
                <a:sym typeface="Times New Roman"/>
              </a:rPr>
              <a:t>m</a:t>
            </a:r>
            <a:r>
              <a:rPr lang="en-US" sz="1600">
                <a:latin typeface="Times New Roman"/>
                <a:ea typeface="Times New Roman"/>
                <a:cs typeface="Times New Roman"/>
                <a:sym typeface="Times New Roman"/>
              </a:rPr>
              <a:t>ited in many existing BCI research works.</a:t>
            </a:r>
            <a:endParaRPr sz="1600">
              <a:latin typeface="Times New Roman"/>
              <a:ea typeface="Times New Roman"/>
              <a:cs typeface="Times New Roman"/>
              <a:sym typeface="Times New Roman"/>
            </a:endParaRPr>
          </a:p>
          <a:p>
            <a:pPr indent="0" lvl="0" marL="0" rtl="0" algn="l">
              <a:lnSpc>
                <a:spcPct val="150000"/>
              </a:lnSpc>
              <a:spcBef>
                <a:spcPts val="470"/>
              </a:spcBef>
              <a:spcAft>
                <a:spcPts val="0"/>
              </a:spcAft>
              <a:buNone/>
            </a:pPr>
            <a:r>
              <a:t/>
            </a:r>
            <a:endParaRPr sz="1600">
              <a:latin typeface="Times New Roman"/>
              <a:ea typeface="Times New Roman"/>
              <a:cs typeface="Times New Roman"/>
              <a:sym typeface="Times New Roman"/>
            </a:endParaRPr>
          </a:p>
        </p:txBody>
      </p:sp>
      <p:pic>
        <p:nvPicPr>
          <p:cNvPr id="200" name="Google Shape;200;p27"/>
          <p:cNvPicPr preferRelativeResize="0"/>
          <p:nvPr/>
        </p:nvPicPr>
        <p:blipFill rotWithShape="1">
          <a:blip r:embed="rId3">
            <a:alphaModFix/>
          </a:blip>
          <a:srcRect b="0" l="0" r="0" t="0"/>
          <a:stretch/>
        </p:blipFill>
        <p:spPr>
          <a:xfrm>
            <a:off x="0" y="10396"/>
            <a:ext cx="1034845" cy="83574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8"/>
          <p:cNvSpPr/>
          <p:nvPr/>
        </p:nvSpPr>
        <p:spPr>
          <a:xfrm>
            <a:off x="1295400" y="145473"/>
            <a:ext cx="10363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000">
                <a:solidFill>
                  <a:srgbClr val="0D1B2A"/>
                </a:solidFill>
                <a:latin typeface="Times New Roman"/>
                <a:ea typeface="Times New Roman"/>
                <a:cs typeface="Times New Roman"/>
                <a:sym typeface="Times New Roman"/>
              </a:rPr>
              <a:t>References</a:t>
            </a:r>
            <a:endParaRPr sz="4000">
              <a:solidFill>
                <a:schemeClr val="dk1"/>
              </a:solidFill>
              <a:latin typeface="Times New Roman"/>
              <a:ea typeface="Times New Roman"/>
              <a:cs typeface="Times New Roman"/>
              <a:sym typeface="Times New Roman"/>
            </a:endParaRPr>
          </a:p>
        </p:txBody>
      </p:sp>
      <p:pic>
        <p:nvPicPr>
          <p:cNvPr id="207" name="Google Shape;207;p28"/>
          <p:cNvPicPr preferRelativeResize="0"/>
          <p:nvPr/>
        </p:nvPicPr>
        <p:blipFill rotWithShape="1">
          <a:blip r:embed="rId3">
            <a:alphaModFix/>
          </a:blip>
          <a:srcRect b="0" l="0" r="0" t="0"/>
          <a:stretch/>
        </p:blipFill>
        <p:spPr>
          <a:xfrm>
            <a:off x="76200" y="152400"/>
            <a:ext cx="791308" cy="685800"/>
          </a:xfrm>
          <a:prstGeom prst="rect">
            <a:avLst/>
          </a:prstGeom>
          <a:noFill/>
          <a:ln>
            <a:noFill/>
          </a:ln>
        </p:spPr>
      </p:pic>
      <p:sp>
        <p:nvSpPr>
          <p:cNvPr id="208" name="Google Shape;208;p28"/>
          <p:cNvSpPr txBox="1"/>
          <p:nvPr/>
        </p:nvSpPr>
        <p:spPr>
          <a:xfrm>
            <a:off x="446375" y="987075"/>
            <a:ext cx="11052900" cy="53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Willett, F. R., Avansino, D. T., Hochberg, L. R., Henderson, J. M., &amp; Shenoy, K. V. (2021). "High-performance brain-to-text communication via handwriting." </a:t>
            </a:r>
            <a:r>
              <a:rPr i="1" lang="en-US" sz="1800">
                <a:solidFill>
                  <a:schemeClr val="dk1"/>
                </a:solidFill>
                <a:latin typeface="Times New Roman"/>
                <a:ea typeface="Times New Roman"/>
                <a:cs typeface="Times New Roman"/>
                <a:sym typeface="Times New Roman"/>
              </a:rPr>
              <a:t>Nature</a:t>
            </a:r>
            <a:r>
              <a:rPr lang="en-US" sz="1800">
                <a:solidFill>
                  <a:schemeClr val="dk1"/>
                </a:solidFill>
                <a:latin typeface="Times New Roman"/>
                <a:ea typeface="Times New Roman"/>
                <a:cs typeface="Times New Roman"/>
                <a:sym typeface="Times New Roman"/>
              </a:rPr>
              <a:t>, 593, 249–254.</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Willett, F. R., Kunz, E., Fan, C., Avansino, D. T., Wilson, G., Choi, E. Y., Kamdar, F., Hochberg, L. R., Druckmann, S., Shenoy, K. V., &amp; Henderson, J. M. (2023). "A high-performance speech neuroprosthesis." </a:t>
            </a:r>
            <a:r>
              <a:rPr i="1" lang="en-US" sz="1800">
                <a:solidFill>
                  <a:schemeClr val="dk1"/>
                </a:solidFill>
                <a:latin typeface="Times New Roman"/>
                <a:ea typeface="Times New Roman"/>
                <a:cs typeface="Times New Roman"/>
                <a:sym typeface="Times New Roman"/>
              </a:rPr>
              <a:t>Nature</a:t>
            </a:r>
            <a:r>
              <a:rPr lang="en-US" sz="1800">
                <a:solidFill>
                  <a:schemeClr val="dk1"/>
                </a:solidFill>
                <a:latin typeface="Times New Roman"/>
                <a:ea typeface="Times New Roman"/>
                <a:cs typeface="Times New Roman"/>
                <a:sym typeface="Times New Roman"/>
              </a:rPr>
              <a:t>, 620, 1031–1036.</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Graves, A., Fernández, S., Gomez, F., &amp; Schmidhuber, J. (2006). "Connectionist Temporal Classification: Labelling Unsegmented Sequence Data with Recurrent Neural Networks." </a:t>
            </a:r>
            <a:r>
              <a:rPr i="1" lang="en-US" sz="1800">
                <a:solidFill>
                  <a:schemeClr val="dk1"/>
                </a:solidFill>
                <a:latin typeface="Times New Roman"/>
                <a:ea typeface="Times New Roman"/>
                <a:cs typeface="Times New Roman"/>
                <a:sym typeface="Times New Roman"/>
              </a:rPr>
              <a:t>Proceedings of the 23rd International Conference on Machine Learning (ICML).</a:t>
            </a:r>
            <a:endParaRPr i="1"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Cho, K., van Merriënboer, B., Gulcehre, C., Bahdanau, D., Bougares, F., Schwenk, H., &amp; Bengio, Y. (2014). "Learning Phrase Representations using RNN Encoder–Decoder for Statistical Machine Translation." </a:t>
            </a:r>
            <a:r>
              <a:rPr i="1" lang="en-US" sz="1800">
                <a:solidFill>
                  <a:schemeClr val="dk1"/>
                </a:solidFill>
                <a:latin typeface="Times New Roman"/>
                <a:ea typeface="Times New Roman"/>
                <a:cs typeface="Times New Roman"/>
                <a:sym typeface="Times New Roman"/>
              </a:rPr>
              <a:t>arXiv:1406.1078.</a:t>
            </a:r>
            <a:endParaRPr i="1"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Hochreiter, S. &amp; Schmidhuber, J. (1997). "Long Short-Term Memory." </a:t>
            </a:r>
            <a:r>
              <a:rPr i="1" lang="en-US" sz="1800">
                <a:solidFill>
                  <a:schemeClr val="dk1"/>
                </a:solidFill>
                <a:latin typeface="Times New Roman"/>
                <a:ea typeface="Times New Roman"/>
                <a:cs typeface="Times New Roman"/>
                <a:sym typeface="Times New Roman"/>
              </a:rPr>
              <a:t>Neural Computation</a:t>
            </a:r>
            <a:r>
              <a:rPr lang="en-US" sz="1800">
                <a:solidFill>
                  <a:schemeClr val="dk1"/>
                </a:solidFill>
                <a:latin typeface="Times New Roman"/>
                <a:ea typeface="Times New Roman"/>
                <a:cs typeface="Times New Roman"/>
                <a:sym typeface="Times New Roman"/>
              </a:rPr>
              <a:t>, 9(8), 1735–1780.</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US" sz="1800">
                <a:solidFill>
                  <a:schemeClr val="dk1"/>
                </a:solidFill>
                <a:latin typeface="Times New Roman"/>
                <a:ea typeface="Times New Roman"/>
                <a:cs typeface="Times New Roman"/>
                <a:sym typeface="Times New Roman"/>
              </a:rPr>
              <a:t>Vaswani, A., Shazeer, N., Parmar, N., Uszkoreit, J., Jones, L., Gomez, A. N., Kaiser, Ł., &amp; Polosukhin, I. (2017). "Attention Is All You Need." </a:t>
            </a:r>
            <a:r>
              <a:rPr i="1" lang="en-US" sz="1800">
                <a:solidFill>
                  <a:schemeClr val="dk1"/>
                </a:solidFill>
                <a:latin typeface="Times New Roman"/>
                <a:ea typeface="Times New Roman"/>
                <a:cs typeface="Times New Roman"/>
                <a:sym typeface="Times New Roman"/>
              </a:rPr>
              <a:t>Advances in Neural Information Processing Systems (NeurIPS).</a:t>
            </a:r>
            <a:endParaRPr i="1" sz="18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p:nvPr/>
        </p:nvSpPr>
        <p:spPr>
          <a:xfrm>
            <a:off x="1798320" y="1040130"/>
            <a:ext cx="347472" cy="347472"/>
          </a:xfrm>
          <a:prstGeom prst="ellipse">
            <a:avLst/>
          </a:prstGeom>
          <a:solidFill>
            <a:srgbClr val="E5243B">
              <a:alpha val="80000"/>
            </a:srgbClr>
          </a:solidFill>
          <a:ln cap="flat" cmpd="sng" w="12700">
            <a:solidFill>
              <a:srgbClr val="E5243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29"/>
          <p:cNvSpPr/>
          <p:nvPr/>
        </p:nvSpPr>
        <p:spPr>
          <a:xfrm>
            <a:off x="2438400" y="1131570"/>
            <a:ext cx="347472" cy="347472"/>
          </a:xfrm>
          <a:prstGeom prst="ellipse">
            <a:avLst/>
          </a:prstGeom>
          <a:solidFill>
            <a:srgbClr val="DDA63A">
              <a:alpha val="80000"/>
            </a:srgbClr>
          </a:solidFill>
          <a:ln cap="flat" cmpd="sng" w="12700">
            <a:solidFill>
              <a:srgbClr val="DDA6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29"/>
          <p:cNvSpPr/>
          <p:nvPr/>
        </p:nvSpPr>
        <p:spPr>
          <a:xfrm>
            <a:off x="3169920" y="994410"/>
            <a:ext cx="347472" cy="347472"/>
          </a:xfrm>
          <a:prstGeom prst="ellipse">
            <a:avLst/>
          </a:prstGeom>
          <a:solidFill>
            <a:srgbClr val="4C9F38">
              <a:alpha val="80000"/>
            </a:srgbClr>
          </a:solidFill>
          <a:ln cap="flat" cmpd="sng" w="12700">
            <a:solidFill>
              <a:srgbClr val="4C9F3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29"/>
          <p:cNvSpPr/>
          <p:nvPr/>
        </p:nvSpPr>
        <p:spPr>
          <a:xfrm>
            <a:off x="1706880" y="1771650"/>
            <a:ext cx="347472" cy="347472"/>
          </a:xfrm>
          <a:prstGeom prst="ellipse">
            <a:avLst/>
          </a:prstGeom>
          <a:solidFill>
            <a:srgbClr val="C5192D">
              <a:alpha val="80000"/>
            </a:srgbClr>
          </a:solidFill>
          <a:ln cap="flat" cmpd="sng" w="12700">
            <a:solidFill>
              <a:srgbClr val="C519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29"/>
          <p:cNvSpPr/>
          <p:nvPr/>
        </p:nvSpPr>
        <p:spPr>
          <a:xfrm>
            <a:off x="1981200" y="2320290"/>
            <a:ext cx="347472" cy="347472"/>
          </a:xfrm>
          <a:prstGeom prst="ellipse">
            <a:avLst/>
          </a:prstGeom>
          <a:solidFill>
            <a:srgbClr val="FF3A21">
              <a:alpha val="80000"/>
            </a:srgbClr>
          </a:solidFill>
          <a:ln cap="flat" cmpd="sng" w="12700">
            <a:solidFill>
              <a:srgbClr val="FF3A2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29"/>
          <p:cNvSpPr/>
          <p:nvPr/>
        </p:nvSpPr>
        <p:spPr>
          <a:xfrm>
            <a:off x="10027920" y="1040130"/>
            <a:ext cx="347472" cy="347472"/>
          </a:xfrm>
          <a:prstGeom prst="ellipse">
            <a:avLst/>
          </a:prstGeom>
          <a:solidFill>
            <a:srgbClr val="26BDE2">
              <a:alpha val="80000"/>
            </a:srgbClr>
          </a:solidFill>
          <a:ln cap="flat" cmpd="sng" w="12700">
            <a:solidFill>
              <a:srgbClr val="26BD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29"/>
          <p:cNvSpPr/>
          <p:nvPr/>
        </p:nvSpPr>
        <p:spPr>
          <a:xfrm>
            <a:off x="9296400" y="1223010"/>
            <a:ext cx="347472" cy="347472"/>
          </a:xfrm>
          <a:prstGeom prst="ellipse">
            <a:avLst/>
          </a:prstGeom>
          <a:solidFill>
            <a:srgbClr val="FCC30B">
              <a:alpha val="80000"/>
            </a:srgbClr>
          </a:solidFill>
          <a:ln cap="flat" cmpd="sng" w="12700">
            <a:solidFill>
              <a:srgbClr val="FCC3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29"/>
          <p:cNvSpPr/>
          <p:nvPr/>
        </p:nvSpPr>
        <p:spPr>
          <a:xfrm>
            <a:off x="10210800" y="1863090"/>
            <a:ext cx="347472" cy="347472"/>
          </a:xfrm>
          <a:prstGeom prst="ellipse">
            <a:avLst/>
          </a:prstGeom>
          <a:solidFill>
            <a:srgbClr val="A21942">
              <a:alpha val="80000"/>
            </a:srgbClr>
          </a:solidFill>
          <a:ln cap="flat" cmpd="sng" w="12700">
            <a:solidFill>
              <a:srgbClr val="A219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29"/>
          <p:cNvSpPr/>
          <p:nvPr/>
        </p:nvSpPr>
        <p:spPr>
          <a:xfrm>
            <a:off x="9936480" y="2503170"/>
            <a:ext cx="347472" cy="347472"/>
          </a:xfrm>
          <a:prstGeom prst="ellipse">
            <a:avLst/>
          </a:prstGeom>
          <a:solidFill>
            <a:srgbClr val="FD6925">
              <a:alpha val="80000"/>
            </a:srgbClr>
          </a:solidFill>
          <a:ln cap="flat" cmpd="sng" w="12700">
            <a:solidFill>
              <a:srgbClr val="FD692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29"/>
          <p:cNvSpPr/>
          <p:nvPr/>
        </p:nvSpPr>
        <p:spPr>
          <a:xfrm>
            <a:off x="2438400" y="1627216"/>
            <a:ext cx="7315200" cy="12801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5600">
                <a:solidFill>
                  <a:srgbClr val="002060"/>
                </a:solidFill>
                <a:latin typeface="Times New Roman"/>
                <a:ea typeface="Times New Roman"/>
                <a:cs typeface="Times New Roman"/>
                <a:sym typeface="Times New Roman"/>
              </a:rPr>
              <a:t>Thank You!</a:t>
            </a:r>
            <a:endParaRPr sz="5600">
              <a:solidFill>
                <a:srgbClr val="002060"/>
              </a:solidFill>
              <a:latin typeface="Times New Roman"/>
              <a:ea typeface="Times New Roman"/>
              <a:cs typeface="Times New Roman"/>
              <a:sym typeface="Times New Roman"/>
            </a:endParaRPr>
          </a:p>
        </p:txBody>
      </p:sp>
      <p:sp>
        <p:nvSpPr>
          <p:cNvPr id="224" name="Google Shape;224;p29"/>
          <p:cNvSpPr/>
          <p:nvPr/>
        </p:nvSpPr>
        <p:spPr>
          <a:xfrm>
            <a:off x="2438400" y="3600450"/>
            <a:ext cx="7315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a:solidFill>
                  <a:srgbClr val="52B788"/>
                </a:solidFill>
                <a:latin typeface="Calibri"/>
                <a:ea typeface="Calibri"/>
                <a:cs typeface="Calibri"/>
                <a:sym typeface="Calibri"/>
              </a:rPr>
              <a:t>Brain - To - Text</a:t>
            </a:r>
            <a:r>
              <a:rPr i="1" lang="en-US" sz="1400">
                <a:solidFill>
                  <a:srgbClr val="52B788"/>
                </a:solidFill>
                <a:latin typeface="Calibri"/>
                <a:ea typeface="Calibri"/>
                <a:cs typeface="Calibri"/>
                <a:sym typeface="Calibri"/>
              </a:rPr>
              <a:t>  ·  B.Tech Final Year Project</a:t>
            </a:r>
            <a:endParaRPr sz="1400">
              <a:solidFill>
                <a:schemeClr val="dk1"/>
              </a:solidFill>
              <a:latin typeface="Calibri"/>
              <a:ea typeface="Calibri"/>
              <a:cs typeface="Calibri"/>
              <a:sym typeface="Calibri"/>
            </a:endParaRPr>
          </a:p>
        </p:txBody>
      </p:sp>
      <p:sp>
        <p:nvSpPr>
          <p:cNvPr id="225" name="Google Shape;225;p29"/>
          <p:cNvSpPr/>
          <p:nvPr/>
        </p:nvSpPr>
        <p:spPr>
          <a:xfrm>
            <a:off x="533400" y="4194810"/>
            <a:ext cx="1097280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a:solidFill>
                  <a:srgbClr val="0C0C0C"/>
                </a:solidFill>
                <a:latin typeface="Times New Roman"/>
                <a:ea typeface="Times New Roman"/>
                <a:cs typeface="Times New Roman"/>
                <a:sym typeface="Times New Roman"/>
              </a:rPr>
              <a:t>Sidheshwar Sharma</a:t>
            </a:r>
            <a:r>
              <a:rPr b="1" lang="en-US" sz="1400">
                <a:solidFill>
                  <a:srgbClr val="0C0C0C"/>
                </a:solidFill>
                <a:latin typeface="Times New Roman"/>
                <a:ea typeface="Times New Roman"/>
                <a:cs typeface="Times New Roman"/>
                <a:sym typeface="Times New Roman"/>
              </a:rPr>
              <a:t> ·  20220802</a:t>
            </a:r>
            <a:r>
              <a:rPr b="1" lang="en-US">
                <a:solidFill>
                  <a:srgbClr val="0C0C0C"/>
                </a:solidFill>
                <a:latin typeface="Times New Roman"/>
                <a:ea typeface="Times New Roman"/>
                <a:cs typeface="Times New Roman"/>
                <a:sym typeface="Times New Roman"/>
              </a:rPr>
              <a:t>331</a:t>
            </a:r>
            <a:r>
              <a:rPr b="1" lang="en-US" sz="1400">
                <a:solidFill>
                  <a:srgbClr val="0C0C0C"/>
                </a:solidFill>
                <a:latin typeface="Times New Roman"/>
                <a:ea typeface="Times New Roman"/>
                <a:cs typeface="Times New Roman"/>
                <a:sym typeface="Times New Roman"/>
              </a:rPr>
              <a:t>    |    </a:t>
            </a:r>
            <a:r>
              <a:rPr b="1" lang="en-US">
                <a:solidFill>
                  <a:srgbClr val="0C0C0C"/>
                </a:solidFill>
                <a:latin typeface="Times New Roman"/>
                <a:ea typeface="Times New Roman"/>
                <a:cs typeface="Times New Roman"/>
                <a:sym typeface="Times New Roman"/>
              </a:rPr>
              <a:t>Ayush Chougule </a:t>
            </a:r>
            <a:r>
              <a:rPr b="1" lang="en-US" sz="1400">
                <a:solidFill>
                  <a:srgbClr val="0C0C0C"/>
                </a:solidFill>
                <a:latin typeface="Times New Roman"/>
                <a:ea typeface="Times New Roman"/>
                <a:cs typeface="Times New Roman"/>
                <a:sym typeface="Times New Roman"/>
              </a:rPr>
              <a:t> ·  20220802</a:t>
            </a:r>
            <a:r>
              <a:rPr b="1" lang="en-US">
                <a:solidFill>
                  <a:srgbClr val="0C0C0C"/>
                </a:solidFill>
                <a:latin typeface="Times New Roman"/>
                <a:ea typeface="Times New Roman"/>
                <a:cs typeface="Times New Roman"/>
                <a:sym typeface="Times New Roman"/>
              </a:rPr>
              <a:t>333</a:t>
            </a:r>
            <a:r>
              <a:rPr b="1" lang="en-US" sz="1400">
                <a:solidFill>
                  <a:srgbClr val="0C0C0C"/>
                </a:solidFill>
                <a:latin typeface="Times New Roman"/>
                <a:ea typeface="Times New Roman"/>
                <a:cs typeface="Times New Roman"/>
                <a:sym typeface="Times New Roman"/>
              </a:rPr>
              <a:t>   |    </a:t>
            </a:r>
            <a:r>
              <a:rPr b="1" lang="en-US">
                <a:solidFill>
                  <a:srgbClr val="0C0C0C"/>
                </a:solidFill>
                <a:latin typeface="Times New Roman"/>
                <a:ea typeface="Times New Roman"/>
                <a:cs typeface="Times New Roman"/>
                <a:sym typeface="Times New Roman"/>
              </a:rPr>
              <a:t>Uday Tomar</a:t>
            </a:r>
            <a:r>
              <a:rPr b="1" lang="en-US" sz="1400">
                <a:solidFill>
                  <a:srgbClr val="0C0C0C"/>
                </a:solidFill>
                <a:latin typeface="Times New Roman"/>
                <a:ea typeface="Times New Roman"/>
                <a:cs typeface="Times New Roman"/>
                <a:sym typeface="Times New Roman"/>
              </a:rPr>
              <a:t>  ·  20220802</a:t>
            </a:r>
            <a:r>
              <a:rPr b="1" lang="en-US">
                <a:solidFill>
                  <a:srgbClr val="0C0C0C"/>
                </a:solidFill>
                <a:latin typeface="Times New Roman"/>
                <a:ea typeface="Times New Roman"/>
                <a:cs typeface="Times New Roman"/>
                <a:sym typeface="Times New Roman"/>
              </a:rPr>
              <a:t>412</a:t>
            </a:r>
            <a:endParaRPr/>
          </a:p>
          <a:p>
            <a:pPr indent="0" lvl="0" marL="0" marR="0" rtl="0" algn="ctr">
              <a:spcBef>
                <a:spcPts val="0"/>
              </a:spcBef>
              <a:spcAft>
                <a:spcPts val="0"/>
              </a:spcAft>
              <a:buNone/>
            </a:pPr>
            <a:r>
              <a:t/>
            </a:r>
            <a:endParaRPr b="1" sz="1400">
              <a:solidFill>
                <a:srgbClr val="0C0C0C"/>
              </a:solidFill>
              <a:latin typeface="Times New Roman"/>
              <a:ea typeface="Times New Roman"/>
              <a:cs typeface="Times New Roman"/>
              <a:sym typeface="Times New Roman"/>
            </a:endParaRPr>
          </a:p>
          <a:p>
            <a:pPr indent="0" lvl="0" marL="0" marR="0" rtl="0" algn="ctr">
              <a:spcBef>
                <a:spcPts val="0"/>
              </a:spcBef>
              <a:spcAft>
                <a:spcPts val="0"/>
              </a:spcAft>
              <a:buNone/>
            </a:pPr>
            <a:r>
              <a:rPr b="1" lang="en-US" sz="1400">
                <a:solidFill>
                  <a:srgbClr val="0C0C0C"/>
                </a:solidFill>
                <a:latin typeface="Times New Roman"/>
                <a:ea typeface="Times New Roman"/>
                <a:cs typeface="Times New Roman"/>
                <a:sym typeface="Times New Roman"/>
              </a:rPr>
              <a:t>Guided by  Dr. Gaurav Kumar Singh  ·  SCSEA, D Y Patil International University, Akurdi, Pune</a:t>
            </a:r>
            <a:endParaRPr/>
          </a:p>
        </p:txBody>
      </p:sp>
      <p:sp>
        <p:nvSpPr>
          <p:cNvPr id="226" name="Google Shape;226;p29"/>
          <p:cNvSpPr/>
          <p:nvPr/>
        </p:nvSpPr>
        <p:spPr>
          <a:xfrm>
            <a:off x="1981200" y="542925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4000">
                <a:solidFill>
                  <a:srgbClr val="F4A261"/>
                </a:solidFill>
                <a:latin typeface="Calibri"/>
                <a:ea typeface="Calibri"/>
                <a:cs typeface="Calibri"/>
                <a:sym typeface="Calibri"/>
              </a:rPr>
              <a:t>Open for Questions</a:t>
            </a:r>
            <a:endParaRPr sz="4000">
              <a:solidFill>
                <a:schemeClr val="dk1"/>
              </a:solidFill>
              <a:latin typeface="Calibri"/>
              <a:ea typeface="Calibri"/>
              <a:cs typeface="Calibri"/>
              <a:sym typeface="Calibri"/>
            </a:endParaRPr>
          </a:p>
        </p:txBody>
      </p:sp>
      <p:pic>
        <p:nvPicPr>
          <p:cNvPr id="227" name="Google Shape;227;p29"/>
          <p:cNvPicPr preferRelativeResize="0"/>
          <p:nvPr/>
        </p:nvPicPr>
        <p:blipFill rotWithShape="1">
          <a:blip r:embed="rId3">
            <a:alphaModFix/>
          </a:blip>
          <a:srcRect b="0" l="0" r="0" t="0"/>
          <a:stretch/>
        </p:blipFill>
        <p:spPr>
          <a:xfrm>
            <a:off x="0" y="0"/>
            <a:ext cx="1305658" cy="113157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